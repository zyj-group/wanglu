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media/image10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18.svg" ContentType="image/svg+xml"/>
  <Override PartName="/ppt/media/image19.svg" ContentType="image/svg+xml"/>
  <Override PartName="/ppt/media/image22.svg" ContentType="image/svg+xml"/>
  <Override PartName="/ppt/media/image24.svg" ContentType="image/svg+xml"/>
  <Override PartName="/ppt/media/image26.svg" ContentType="image/svg+xml"/>
  <Override PartName="/ppt/media/image29.svg" ContentType="image/svg+xml"/>
  <Override PartName="/ppt/media/image31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7" r:id="rId3"/>
    <p:sldId id="258" r:id="rId5"/>
    <p:sldId id="268" r:id="rId6"/>
    <p:sldId id="269" r:id="rId7"/>
    <p:sldId id="270" r:id="rId8"/>
    <p:sldId id="271" r:id="rId9"/>
    <p:sldId id="272" r:id="rId10"/>
    <p:sldId id="273" r:id="rId11"/>
    <p:sldId id="275" r:id="rId12"/>
    <p:sldId id="274" r:id="rId13"/>
    <p:sldId id="276" r:id="rId14"/>
    <p:sldId id="267" r:id="rId1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610441434" name=" " initials="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7900" autoAdjust="0"/>
  </p:normalViewPr>
  <p:slideViewPr>
    <p:cSldViewPr snapToGrid="0">
      <p:cViewPr varScale="1">
        <p:scale>
          <a:sx n="87" d="100"/>
          <a:sy n="87" d="100"/>
        </p:scale>
        <p:origin x="66" y="9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commentAuthors" Target="commentAuthors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778FDA-50DF-44B5-9FBA-F96BB1FB82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8D29A7-0808-4104-8F67-C229520D70AE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E12058-ED5C-4B87-B87C-1194BC0503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E12058-ED5C-4B87-B87C-1194BC0503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E12058-ED5C-4B87-B87C-1194BC0503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E12058-ED5C-4B87-B87C-1194BC0503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E12058-ED5C-4B87-B87C-1194BC0503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E12058-ED5C-4B87-B87C-1194BC0503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E12058-ED5C-4B87-B87C-1194BC0503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E12058-ED5C-4B87-B87C-1194BC0503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E12058-ED5C-4B87-B87C-1194BC0503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E12058-ED5C-4B87-B87C-1194BC0503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E12058-ED5C-4B87-B87C-1194BC0503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99C2A-889C-45DF-A45C-633D3A242CD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E32B5-07B2-4F1E-B467-F02C85D5B41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99C2A-889C-45DF-A45C-633D3A242CD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E32B5-07B2-4F1E-B467-F02C85D5B41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99C2A-889C-45DF-A45C-633D3A242CD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E32B5-07B2-4F1E-B467-F02C85D5B41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99C2A-889C-45DF-A45C-633D3A242CD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E32B5-07B2-4F1E-B467-F02C85D5B41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99C2A-889C-45DF-A45C-633D3A242CD9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E32B5-07B2-4F1E-B467-F02C85D5B41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99C2A-889C-45DF-A45C-633D3A242CD9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E32B5-07B2-4F1E-B467-F02C85D5B41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99C2A-889C-45DF-A45C-633D3A242CD9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E32B5-07B2-4F1E-B467-F02C85D5B41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99C2A-889C-45DF-A45C-633D3A242CD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E32B5-07B2-4F1E-B467-F02C85D5B41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99C2A-889C-45DF-A45C-633D3A242CD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E32B5-07B2-4F1E-B467-F02C85D5B41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99C2A-889C-45DF-A45C-633D3A242CD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E32B5-07B2-4F1E-B467-F02C85D5B41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99C2A-889C-45DF-A45C-633D3A242CD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E32B5-07B2-4F1E-B467-F02C85D5B41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099C2A-889C-45DF-A45C-633D3A242CD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9E32B5-07B2-4F1E-B467-F02C85D5B415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12.svg"/><Relationship Id="rId8" Type="http://schemas.openxmlformats.org/officeDocument/2006/relationships/image" Target="../media/image11.png"/><Relationship Id="rId7" Type="http://schemas.openxmlformats.org/officeDocument/2006/relationships/image" Target="../media/image10.svg"/><Relationship Id="rId6" Type="http://schemas.openxmlformats.org/officeDocument/2006/relationships/image" Target="../media/image9.png"/><Relationship Id="rId5" Type="http://schemas.openxmlformats.org/officeDocument/2006/relationships/image" Target="../media/image8.svg"/><Relationship Id="rId4" Type="http://schemas.openxmlformats.org/officeDocument/2006/relationships/image" Target="../media/image7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5" Type="http://schemas.openxmlformats.org/officeDocument/2006/relationships/notesSlide" Target="../notesSlides/notesSlide3.xml"/><Relationship Id="rId14" Type="http://schemas.openxmlformats.org/officeDocument/2006/relationships/slideLayout" Target="../slideLayouts/slideLayout7.xml"/><Relationship Id="rId13" Type="http://schemas.openxmlformats.org/officeDocument/2006/relationships/image" Target="../media/image16.svg"/><Relationship Id="rId12" Type="http://schemas.openxmlformats.org/officeDocument/2006/relationships/image" Target="../media/image15.png"/><Relationship Id="rId11" Type="http://schemas.openxmlformats.org/officeDocument/2006/relationships/image" Target="../media/image14.svg"/><Relationship Id="rId10" Type="http://schemas.openxmlformats.org/officeDocument/2006/relationships/image" Target="../media/image13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4.xml"/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19.svg"/><Relationship Id="rId6" Type="http://schemas.openxmlformats.org/officeDocument/2006/relationships/image" Target="../media/image13.png"/><Relationship Id="rId5" Type="http://schemas.openxmlformats.org/officeDocument/2006/relationships/image" Target="../media/image18.svg"/><Relationship Id="rId4" Type="http://schemas.openxmlformats.org/officeDocument/2006/relationships/image" Target="../media/image17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20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4.xml"/><Relationship Id="rId8" Type="http://schemas.openxmlformats.org/officeDocument/2006/relationships/tags" Target="../tags/tag3.xml"/><Relationship Id="rId7" Type="http://schemas.openxmlformats.org/officeDocument/2006/relationships/image" Target="../media/image22.svg"/><Relationship Id="rId6" Type="http://schemas.openxmlformats.org/officeDocument/2006/relationships/image" Target="../media/image21.png"/><Relationship Id="rId5" Type="http://schemas.openxmlformats.org/officeDocument/2006/relationships/tags" Target="../tags/tag2.xml"/><Relationship Id="rId4" Type="http://schemas.openxmlformats.org/officeDocument/2006/relationships/tags" Target="../tags/tag1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8" Type="http://schemas.openxmlformats.org/officeDocument/2006/relationships/notesSlide" Target="../notesSlides/notesSlide6.xml"/><Relationship Id="rId17" Type="http://schemas.openxmlformats.org/officeDocument/2006/relationships/slideLayout" Target="../slideLayouts/slideLayout7.xml"/><Relationship Id="rId16" Type="http://schemas.openxmlformats.org/officeDocument/2006/relationships/image" Target="../media/image27.png"/><Relationship Id="rId15" Type="http://schemas.openxmlformats.org/officeDocument/2006/relationships/image" Target="../media/image26.svg"/><Relationship Id="rId14" Type="http://schemas.openxmlformats.org/officeDocument/2006/relationships/image" Target="../media/image25.png"/><Relationship Id="rId13" Type="http://schemas.openxmlformats.org/officeDocument/2006/relationships/tags" Target="../tags/tag6.xml"/><Relationship Id="rId12" Type="http://schemas.openxmlformats.org/officeDocument/2006/relationships/tags" Target="../tags/tag5.xml"/><Relationship Id="rId11" Type="http://schemas.openxmlformats.org/officeDocument/2006/relationships/image" Target="../media/image24.svg"/><Relationship Id="rId10" Type="http://schemas.openxmlformats.org/officeDocument/2006/relationships/image" Target="../media/image23.png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31.svg"/><Relationship Id="rId8" Type="http://schemas.openxmlformats.org/officeDocument/2006/relationships/image" Target="../media/image30.png"/><Relationship Id="rId7" Type="http://schemas.openxmlformats.org/officeDocument/2006/relationships/image" Target="../media/image19.svg"/><Relationship Id="rId6" Type="http://schemas.openxmlformats.org/officeDocument/2006/relationships/image" Target="../media/image13.png"/><Relationship Id="rId5" Type="http://schemas.openxmlformats.org/officeDocument/2006/relationships/image" Target="../media/image29.svg"/><Relationship Id="rId4" Type="http://schemas.openxmlformats.org/officeDocument/2006/relationships/image" Target="../media/image28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1" Type="http://schemas.openxmlformats.org/officeDocument/2006/relationships/notesSlide" Target="../notesSlides/notesSlide7.xml"/><Relationship Id="rId10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8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32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9.xml"/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33.png"/><Relationship Id="rId6" Type="http://schemas.openxmlformats.org/officeDocument/2006/relationships/tags" Target="../tags/tag9.xml"/><Relationship Id="rId5" Type="http://schemas.openxmlformats.org/officeDocument/2006/relationships/tags" Target="../tags/tag8.xml"/><Relationship Id="rId4" Type="http://schemas.openxmlformats.org/officeDocument/2006/relationships/tags" Target="../tags/tag7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0.xml"/><Relationship Id="rId5" Type="http://schemas.openxmlformats.org/officeDocument/2006/relationships/slideLayout" Target="../slideLayouts/slideLayout7.xml"/><Relationship Id="rId4" Type="http://schemas.openxmlformats.org/officeDocument/2006/relationships/tags" Target="../tags/tag10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30" b="34927"/>
          <a:stretch>
            <a:fillRect/>
          </a:stretch>
        </p:blipFill>
        <p:spPr>
          <a:xfrm>
            <a:off x="-2" y="0"/>
            <a:ext cx="12192002" cy="5057758"/>
          </a:xfrm>
          <a:prstGeom prst="rect">
            <a:avLst/>
          </a:prstGeom>
        </p:spPr>
      </p:pic>
      <p:sp>
        <p:nvSpPr>
          <p:cNvPr id="25" name="矩形 24"/>
          <p:cNvSpPr/>
          <p:nvPr/>
        </p:nvSpPr>
        <p:spPr>
          <a:xfrm>
            <a:off x="215" y="4627"/>
            <a:ext cx="12192000" cy="5013703"/>
          </a:xfrm>
          <a:prstGeom prst="rect">
            <a:avLst/>
          </a:prstGeom>
          <a:solidFill>
            <a:schemeClr val="tx1">
              <a:alpha val="4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crosoft YaHei Regular"/>
              <a:ea typeface="微软雅黑" panose="020B0503020204020204" charset="-122"/>
              <a:cs typeface="+mn-cs"/>
            </a:endParaRPr>
          </a:p>
        </p:txBody>
      </p:sp>
      <p:pic>
        <p:nvPicPr>
          <p:cNvPr id="101" name="图片 100"/>
          <p:cNvPicPr>
            <a:picLocks noChangeAspect="1"/>
          </p:cNvPicPr>
          <p:nvPr/>
        </p:nvPicPr>
        <p:blipFill>
          <a:blip r:embed="rId3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2874" y="39345"/>
            <a:ext cx="3455246" cy="3455246"/>
          </a:xfrm>
          <a:prstGeom prst="rect">
            <a:avLst/>
          </a:prstGeom>
        </p:spPr>
      </p:pic>
      <p:cxnSp>
        <p:nvCxnSpPr>
          <p:cNvPr id="48" name="直线连接符 77"/>
          <p:cNvCxnSpPr/>
          <p:nvPr/>
        </p:nvCxnSpPr>
        <p:spPr>
          <a:xfrm flipH="1">
            <a:off x="-1" y="5041255"/>
            <a:ext cx="12192001" cy="0"/>
          </a:xfrm>
          <a:prstGeom prst="line">
            <a:avLst/>
          </a:prstGeom>
          <a:ln w="101600">
            <a:gradFill>
              <a:gsLst>
                <a:gs pos="50000">
                  <a:srgbClr val="F6D9A7"/>
                </a:gs>
                <a:gs pos="100000">
                  <a:srgbClr val="D6AA74"/>
                </a:gs>
                <a:gs pos="0">
                  <a:srgbClr val="D6AA74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圆角矩形 190"/>
          <p:cNvSpPr/>
          <p:nvPr/>
        </p:nvSpPr>
        <p:spPr>
          <a:xfrm>
            <a:off x="4182432" y="5460729"/>
            <a:ext cx="3816132" cy="497149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汇报人：</a:t>
            </a:r>
            <a:r>
              <a:rPr kumimoji="1" lang="zh-CN" altLang="en-US" sz="280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王路</a:t>
            </a:r>
            <a:endParaRPr kumimoji="1" lang="zh-CN" altLang="en-US" sz="2800" dirty="0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0" name="圆角矩形 192"/>
          <p:cNvSpPr/>
          <p:nvPr/>
        </p:nvSpPr>
        <p:spPr>
          <a:xfrm>
            <a:off x="4922287" y="5727356"/>
            <a:ext cx="2341189" cy="497149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51" name="圆角矩形 193"/>
          <p:cNvSpPr/>
          <p:nvPr/>
        </p:nvSpPr>
        <p:spPr>
          <a:xfrm>
            <a:off x="7853888" y="5727356"/>
            <a:ext cx="2341189" cy="497149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5" name="副标题 2"/>
          <p:cNvSpPr txBox="1"/>
          <p:nvPr/>
        </p:nvSpPr>
        <p:spPr>
          <a:xfrm>
            <a:off x="2452443" y="6400304"/>
            <a:ext cx="7287114" cy="457696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6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方正小标宋简体" panose="02000000000000000000" pitchFamily="65" charset="-122"/>
                <a:ea typeface="方正小标宋简体" panose="02000000000000000000" pitchFamily="65" charset="-122"/>
                <a:cs typeface="+mn-cs"/>
              </a:rPr>
              <a:t>-  </a:t>
            </a:r>
            <a:r>
              <a:rPr kumimoji="0" lang="zh-CN" altLang="en-US" sz="1200" b="0" i="0" u="none" strike="noStrike" kern="1200" cap="none" spc="6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方正小标宋简体" panose="02000000000000000000" pitchFamily="65" charset="-122"/>
                <a:ea typeface="方正小标宋简体" panose="02000000000000000000" pitchFamily="65" charset="-122"/>
                <a:cs typeface="+mn-cs"/>
              </a:rPr>
              <a:t>艰苦创业  开拓创新  争创一流  </a:t>
            </a:r>
            <a:r>
              <a:rPr kumimoji="0" lang="en-US" altLang="zh-CN" sz="1200" b="0" i="0" u="none" strike="noStrike" kern="1200" cap="none" spc="6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方正小标宋简体" panose="02000000000000000000" pitchFamily="65" charset="-122"/>
                <a:ea typeface="方正小标宋简体" panose="02000000000000000000" pitchFamily="65" charset="-122"/>
                <a:cs typeface="+mn-cs"/>
              </a:rPr>
              <a:t>-</a:t>
            </a:r>
            <a:endParaRPr kumimoji="0" lang="zh-CN" altLang="en-US" sz="12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方正小标宋简体" panose="02000000000000000000" pitchFamily="65" charset="-122"/>
              <a:ea typeface="方正小标宋简体" panose="02000000000000000000" pitchFamily="65" charset="-122"/>
              <a:cs typeface="+mn-cs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0510916" y="6215638"/>
            <a:ext cx="1365250" cy="3683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>
              <a:defRPr/>
            </a:pPr>
            <a:r>
              <a:rPr kumimoji="1" lang="en-US" altLang="zh-CN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2026.07.24</a:t>
            </a:r>
            <a:endParaRPr kumimoji="1" lang="zh-CN" altLang="en-US" dirty="0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AutoShape 3"/>
          <p:cNvSpPr/>
          <p:nvPr/>
        </p:nvSpPr>
        <p:spPr>
          <a:xfrm>
            <a:off x="161925" y="2904490"/>
            <a:ext cx="119126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基于视觉语言大模型的零样本多标签学习方法研究</a:t>
            </a:r>
            <a:endParaRPr lang="en-US" sz="4000" b="1" i="0" u="none" strike="noStrike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1"/>
          <a:srcRect t="34000" r="33676" b="55939"/>
          <a:stretch>
            <a:fillRect/>
          </a:stretch>
        </p:blipFill>
        <p:spPr>
          <a:xfrm>
            <a:off x="2" y="2"/>
            <a:ext cx="8086205" cy="714895"/>
          </a:xfrm>
          <a:custGeom>
            <a:avLst/>
            <a:gdLst>
              <a:gd name="connsiteX0" fmla="*/ 0 w 8086205"/>
              <a:gd name="connsiteY0" fmla="*/ 0 h 714895"/>
              <a:gd name="connsiteX1" fmla="*/ 7907481 w 8086205"/>
              <a:gd name="connsiteY1" fmla="*/ 0 h 714895"/>
              <a:gd name="connsiteX2" fmla="*/ 8086205 w 8086205"/>
              <a:gd name="connsiteY2" fmla="*/ 714895 h 714895"/>
              <a:gd name="connsiteX3" fmla="*/ 0 w 8086205"/>
              <a:gd name="connsiteY3" fmla="*/ 714895 h 7148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6205" h="714895">
                <a:moveTo>
                  <a:pt x="0" y="0"/>
                </a:moveTo>
                <a:lnTo>
                  <a:pt x="7907481" y="0"/>
                </a:lnTo>
                <a:lnTo>
                  <a:pt x="8086205" y="714895"/>
                </a:lnTo>
                <a:lnTo>
                  <a:pt x="0" y="714895"/>
                </a:lnTo>
                <a:close/>
              </a:path>
            </a:pathLst>
          </a:custGeom>
        </p:spPr>
      </p:pic>
      <p:pic>
        <p:nvPicPr>
          <p:cNvPr id="75" name="图片 74"/>
          <p:cNvPicPr>
            <a:picLocks noChangeAspect="1"/>
          </p:cNvPicPr>
          <p:nvPr/>
        </p:nvPicPr>
        <p:blipFill rotWithShape="1">
          <a:blip r:embed="rId1"/>
          <a:srcRect t="68121" b="25333"/>
          <a:stretch>
            <a:fillRect/>
          </a:stretch>
        </p:blipFill>
        <p:spPr>
          <a:xfrm>
            <a:off x="0" y="6342612"/>
            <a:ext cx="12192000" cy="515389"/>
          </a:xfrm>
          <a:prstGeom prst="rect">
            <a:avLst/>
          </a:prstGeom>
        </p:spPr>
      </p:pic>
      <p:cxnSp>
        <p:nvCxnSpPr>
          <p:cNvPr id="88" name="直线连接符 92"/>
          <p:cNvCxnSpPr/>
          <p:nvPr/>
        </p:nvCxnSpPr>
        <p:spPr>
          <a:xfrm flipH="1">
            <a:off x="-7622" y="6342611"/>
            <a:ext cx="12204000" cy="0"/>
          </a:xfrm>
          <a:prstGeom prst="line">
            <a:avLst/>
          </a:prstGeom>
          <a:ln w="101600">
            <a:gradFill>
              <a:gsLst>
                <a:gs pos="50000">
                  <a:srgbClr val="F6D9A7"/>
                </a:gs>
                <a:gs pos="100000">
                  <a:srgbClr val="D6AA74"/>
                </a:gs>
                <a:gs pos="0">
                  <a:srgbClr val="D6AA74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线连接符 93"/>
          <p:cNvCxnSpPr/>
          <p:nvPr/>
        </p:nvCxnSpPr>
        <p:spPr>
          <a:xfrm flipH="1">
            <a:off x="-7622" y="703815"/>
            <a:ext cx="12204000" cy="0"/>
          </a:xfrm>
          <a:prstGeom prst="line">
            <a:avLst/>
          </a:prstGeom>
          <a:ln w="101600">
            <a:gradFill>
              <a:gsLst>
                <a:gs pos="50000">
                  <a:srgbClr val="F6D9A7"/>
                </a:gs>
                <a:gs pos="100000">
                  <a:srgbClr val="D6AA74"/>
                </a:gs>
                <a:gs pos="0">
                  <a:srgbClr val="D6AA74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9978" y="6380711"/>
            <a:ext cx="1780186" cy="536494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0773" y="176064"/>
            <a:ext cx="1599391" cy="35169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248920" y="102870"/>
            <a:ext cx="3471545" cy="4972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8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论文整体核心架构</a:t>
            </a:r>
            <a:endParaRPr lang="zh-CN" altLang="en-US" sz="28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zh-CN" altLang="en-US" sz="28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rcRect l="1146" t="3051" r="12251"/>
          <a:stretch>
            <a:fillRect/>
          </a:stretch>
        </p:blipFill>
        <p:spPr>
          <a:xfrm>
            <a:off x="1711325" y="800100"/>
            <a:ext cx="7648575" cy="54578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1"/>
          <a:srcRect t="34000" r="33676" b="55939"/>
          <a:stretch>
            <a:fillRect/>
          </a:stretch>
        </p:blipFill>
        <p:spPr>
          <a:xfrm>
            <a:off x="2" y="2"/>
            <a:ext cx="8086205" cy="714895"/>
          </a:xfrm>
          <a:custGeom>
            <a:avLst/>
            <a:gdLst>
              <a:gd name="connsiteX0" fmla="*/ 0 w 8086205"/>
              <a:gd name="connsiteY0" fmla="*/ 0 h 714895"/>
              <a:gd name="connsiteX1" fmla="*/ 7907481 w 8086205"/>
              <a:gd name="connsiteY1" fmla="*/ 0 h 714895"/>
              <a:gd name="connsiteX2" fmla="*/ 8086205 w 8086205"/>
              <a:gd name="connsiteY2" fmla="*/ 714895 h 714895"/>
              <a:gd name="connsiteX3" fmla="*/ 0 w 8086205"/>
              <a:gd name="connsiteY3" fmla="*/ 714895 h 7148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6205" h="714895">
                <a:moveTo>
                  <a:pt x="0" y="0"/>
                </a:moveTo>
                <a:lnTo>
                  <a:pt x="7907481" y="0"/>
                </a:lnTo>
                <a:lnTo>
                  <a:pt x="8086205" y="714895"/>
                </a:lnTo>
                <a:lnTo>
                  <a:pt x="0" y="714895"/>
                </a:lnTo>
                <a:close/>
              </a:path>
            </a:pathLst>
          </a:custGeom>
        </p:spPr>
      </p:pic>
      <p:pic>
        <p:nvPicPr>
          <p:cNvPr id="75" name="图片 74"/>
          <p:cNvPicPr>
            <a:picLocks noChangeAspect="1"/>
          </p:cNvPicPr>
          <p:nvPr/>
        </p:nvPicPr>
        <p:blipFill rotWithShape="1">
          <a:blip r:embed="rId1"/>
          <a:srcRect t="68121" b="25333"/>
          <a:stretch>
            <a:fillRect/>
          </a:stretch>
        </p:blipFill>
        <p:spPr>
          <a:xfrm>
            <a:off x="0" y="6342612"/>
            <a:ext cx="12192000" cy="515389"/>
          </a:xfrm>
          <a:prstGeom prst="rect">
            <a:avLst/>
          </a:prstGeom>
        </p:spPr>
      </p:pic>
      <p:cxnSp>
        <p:nvCxnSpPr>
          <p:cNvPr id="88" name="直线连接符 92"/>
          <p:cNvCxnSpPr/>
          <p:nvPr/>
        </p:nvCxnSpPr>
        <p:spPr>
          <a:xfrm flipH="1">
            <a:off x="-7622" y="6342611"/>
            <a:ext cx="12204000" cy="0"/>
          </a:xfrm>
          <a:prstGeom prst="line">
            <a:avLst/>
          </a:prstGeom>
          <a:ln w="101600">
            <a:gradFill>
              <a:gsLst>
                <a:gs pos="50000">
                  <a:srgbClr val="F6D9A7"/>
                </a:gs>
                <a:gs pos="100000">
                  <a:srgbClr val="D6AA74"/>
                </a:gs>
                <a:gs pos="0">
                  <a:srgbClr val="D6AA74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线连接符 93"/>
          <p:cNvCxnSpPr/>
          <p:nvPr/>
        </p:nvCxnSpPr>
        <p:spPr>
          <a:xfrm flipH="1">
            <a:off x="-7622" y="703815"/>
            <a:ext cx="12204000" cy="0"/>
          </a:xfrm>
          <a:prstGeom prst="line">
            <a:avLst/>
          </a:prstGeom>
          <a:ln w="101600">
            <a:gradFill>
              <a:gsLst>
                <a:gs pos="50000">
                  <a:srgbClr val="F6D9A7"/>
                </a:gs>
                <a:gs pos="100000">
                  <a:srgbClr val="D6AA74"/>
                </a:gs>
                <a:gs pos="0">
                  <a:srgbClr val="D6AA74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9978" y="6380711"/>
            <a:ext cx="1780186" cy="536494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0773" y="176064"/>
            <a:ext cx="1599391" cy="35169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248920" y="102870"/>
            <a:ext cx="3471545" cy="4972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8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核心挑战与</a:t>
            </a:r>
            <a:r>
              <a:rPr lang="zh-CN" altLang="en-US" sz="28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本文工作</a:t>
            </a:r>
            <a:endParaRPr lang="zh-CN" altLang="en-US" sz="28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zh-CN" altLang="en-US" sz="28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AutoShape 4"/>
          <p:cNvSpPr/>
          <p:nvPr/>
        </p:nvSpPr>
        <p:spPr>
          <a:xfrm>
            <a:off x="248920" y="966470"/>
            <a:ext cx="5207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chemeClr val="accent1">
                    <a:lumMod val="75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现有范式面临的两大核心挑战</a:t>
            </a:r>
            <a:endParaRPr lang="en-US" sz="2000" b="1" i="0" u="none" strike="noStrike">
              <a:solidFill>
                <a:schemeClr val="accent1">
                  <a:lumMod val="75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5"/>
          <p:cNvSpPr/>
          <p:nvPr/>
        </p:nvSpPr>
        <p:spPr>
          <a:xfrm>
            <a:off x="248920" y="1582420"/>
            <a:ext cx="52070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55000"/>
            </a:srgbClr>
          </a:solidFill>
          <a:ln w="12700" cap="flat" cmpd="sng">
            <a:solidFill>
              <a:srgbClr val="4FD1C5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7"/>
          <p:cNvSpPr/>
          <p:nvPr/>
        </p:nvSpPr>
        <p:spPr>
          <a:xfrm>
            <a:off x="947420" y="1582420"/>
            <a:ext cx="45085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D37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可见类过拟合与</a:t>
            </a:r>
            <a:r>
              <a:rPr lang="zh-CN" altLang="en-US" sz="1600" b="1" i="0" u="none" strike="noStrike">
                <a:solidFill>
                  <a:srgbClr val="2D37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可见类与不可见类识别</a:t>
            </a:r>
            <a:r>
              <a:rPr lang="en-US" sz="1600" b="1" i="0" u="none" strike="noStrike">
                <a:solidFill>
                  <a:srgbClr val="2D37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性能失衡</a:t>
            </a:r>
            <a:endParaRPr lang="en-US" sz="1100"/>
          </a:p>
        </p:txBody>
      </p:sp>
      <p:pic>
        <p:nvPicPr>
          <p:cNvPr id="10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13080" y="1607820"/>
            <a:ext cx="304800" cy="304800"/>
          </a:xfrm>
          <a:prstGeom prst="rect">
            <a:avLst/>
          </a:prstGeom>
        </p:spPr>
      </p:pic>
      <p:sp>
        <p:nvSpPr>
          <p:cNvPr id="11" name="AutoShape 8"/>
          <p:cNvSpPr/>
          <p:nvPr/>
        </p:nvSpPr>
        <p:spPr>
          <a:xfrm>
            <a:off x="327025" y="2109470"/>
            <a:ext cx="502666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痛点：</a:t>
            </a:r>
            <a:r>
              <a:rPr lang="en-US" sz="1600" b="0" i="0" u="none" strike="noStrike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单模态提示易导致模型“死记硬背”已见类别特征，丧失对未知类别的泛化能力。</a:t>
            </a:r>
            <a:br>
              <a:rPr lang="en-US" sz="1600" b="0" i="0" u="none" strike="noStrike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</a:br>
            <a:r>
              <a:rPr lang="en-US" sz="1600" b="1" i="0" u="none" strike="noStrike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后果：</a:t>
            </a:r>
            <a:r>
              <a:rPr lang="en-US" sz="1600" b="0" i="0" u="none" strike="noStrike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模型在训练集类别上表现优异，但面对新类别时性能断崖式下跌，整体鲁棒性严重受损。</a:t>
            </a:r>
            <a:endParaRPr lang="en-US" sz="1600" b="0" i="0" u="none" strike="noStrike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sp>
        <p:nvSpPr>
          <p:cNvPr id="12" name="AutoShape 9"/>
          <p:cNvSpPr/>
          <p:nvPr/>
        </p:nvSpPr>
        <p:spPr>
          <a:xfrm>
            <a:off x="248920" y="3697605"/>
            <a:ext cx="52070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55000"/>
            </a:srgbClr>
          </a:solidFill>
          <a:ln w="12700" cap="flat" cmpd="sng">
            <a:solidFill>
              <a:srgbClr val="4FD1C5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1"/>
          <p:cNvSpPr/>
          <p:nvPr/>
        </p:nvSpPr>
        <p:spPr>
          <a:xfrm>
            <a:off x="947420" y="3711575"/>
            <a:ext cx="45085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D37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全局特征混合与细粒度对齐偏差</a:t>
            </a:r>
            <a:endParaRPr lang="en-US" sz="1100"/>
          </a:p>
        </p:txBody>
      </p:sp>
      <p:pic>
        <p:nvPicPr>
          <p:cNvPr id="14" name="Picture 1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13080" y="3724275"/>
            <a:ext cx="304800" cy="304800"/>
          </a:xfrm>
          <a:prstGeom prst="rect">
            <a:avLst/>
          </a:prstGeom>
        </p:spPr>
      </p:pic>
      <p:sp>
        <p:nvSpPr>
          <p:cNvPr id="15" name="AutoShape 12"/>
          <p:cNvSpPr/>
          <p:nvPr/>
        </p:nvSpPr>
        <p:spPr>
          <a:xfrm>
            <a:off x="327025" y="4175760"/>
            <a:ext cx="4923155" cy="114935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痛点：</a:t>
            </a:r>
            <a:r>
              <a:rPr lang="en-US" sz="1600" b="0" i="0" u="none" strike="noStrike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CLIP默认提取图像全局特征，多物体场景下特征相互干扰，导致语义表达模糊。</a:t>
            </a:r>
            <a:br>
              <a:rPr lang="en-US" sz="1600" b="0" i="0" u="none" strike="noStrike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</a:br>
            <a:r>
              <a:rPr lang="en-US" sz="1600" b="1" i="0" u="none" strike="noStrike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后果：</a:t>
            </a:r>
            <a:r>
              <a:rPr lang="en-US" sz="1600" b="0" i="0" u="none" strike="noStrike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无法建立精准的细粒度视觉-语义映射，出现“张冠李戴”的匹配错误，大幅降低检索与分类精度。</a:t>
            </a:r>
            <a:endParaRPr lang="en-US" sz="1600" b="0" i="0" u="none" strike="noStrike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sp>
        <p:nvSpPr>
          <p:cNvPr id="16" name="AutoShape 13"/>
          <p:cNvSpPr/>
          <p:nvPr/>
        </p:nvSpPr>
        <p:spPr>
          <a:xfrm>
            <a:off x="6468745" y="966470"/>
            <a:ext cx="5207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chemeClr val="accent1">
                    <a:lumMod val="75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本文的三大核心突破与贡献</a:t>
            </a:r>
            <a:endParaRPr lang="en-US" sz="2000" b="1" i="0" u="none" strike="noStrike">
              <a:solidFill>
                <a:schemeClr val="accent1">
                  <a:lumMod val="75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7" name="AutoShape 14"/>
          <p:cNvSpPr/>
          <p:nvPr/>
        </p:nvSpPr>
        <p:spPr>
          <a:xfrm>
            <a:off x="6141085" y="1582420"/>
            <a:ext cx="5207000" cy="1206500"/>
          </a:xfrm>
          <a:prstGeom prst="roundRect">
            <a:avLst>
              <a:gd name="adj" fmla="val 0"/>
            </a:avLst>
          </a:prstGeom>
          <a:solidFill>
            <a:schemeClr val="accent1">
              <a:alpha val="61000"/>
            </a:schemeClr>
          </a:solidFill>
          <a:ln w="12700" cap="flat" cmpd="sng">
            <a:solidFill>
              <a:srgbClr val="4FD1C5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6"/>
          <p:cNvSpPr/>
          <p:nvPr/>
        </p:nvSpPr>
        <p:spPr>
          <a:xfrm>
            <a:off x="6570345" y="1658620"/>
            <a:ext cx="465709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2D374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提出多模态解耦提示学习 (MDPL)</a:t>
            </a:r>
            <a:br>
              <a:rPr lang="en-US" b="0" i="0" u="none" strike="noStrike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</a:br>
            <a:r>
              <a:rPr lang="en-US" sz="1400" b="0" i="0" u="none" strike="noStrike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创新性地分离视觉与语言的提示空间，打破单模态提示的过拟合壁垒，显著提升模型对未见类别的零样本泛化性能。</a:t>
            </a:r>
            <a:endParaRPr lang="en-US" sz="1400" b="0" i="0" u="none" strike="noStrike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sp>
        <p:nvSpPr>
          <p:cNvPr id="19" name="AutoShape 14"/>
          <p:cNvSpPr/>
          <p:nvPr/>
        </p:nvSpPr>
        <p:spPr>
          <a:xfrm>
            <a:off x="6141085" y="3125470"/>
            <a:ext cx="5207000" cy="1206500"/>
          </a:xfrm>
          <a:prstGeom prst="roundRect">
            <a:avLst>
              <a:gd name="adj" fmla="val 0"/>
            </a:avLst>
          </a:prstGeom>
          <a:solidFill>
            <a:schemeClr val="accent1">
              <a:alpha val="61000"/>
            </a:schemeClr>
          </a:solidFill>
          <a:ln w="12700" cap="flat" cmpd="sng">
            <a:solidFill>
              <a:srgbClr val="4FD1C5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14"/>
          <p:cNvSpPr/>
          <p:nvPr/>
        </p:nvSpPr>
        <p:spPr>
          <a:xfrm>
            <a:off x="6141085" y="4686300"/>
            <a:ext cx="5207000" cy="1206500"/>
          </a:xfrm>
          <a:prstGeom prst="roundRect">
            <a:avLst>
              <a:gd name="adj" fmla="val 0"/>
            </a:avLst>
          </a:prstGeom>
          <a:solidFill>
            <a:schemeClr val="accent1">
              <a:alpha val="61000"/>
            </a:schemeClr>
          </a:solidFill>
          <a:ln w="12700" cap="flat" cmpd="sng">
            <a:solidFill>
              <a:srgbClr val="4FD1C5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19"/>
          <p:cNvSpPr/>
          <p:nvPr/>
        </p:nvSpPr>
        <p:spPr>
          <a:xfrm>
            <a:off x="6644640" y="3220720"/>
            <a:ext cx="4508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2D374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构建双重图像-文本细粒度对齐机制</a:t>
            </a:r>
            <a:br>
              <a:rPr lang="en-US" sz="1400" b="0" i="0" u="none" strike="noStrike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</a:br>
            <a:r>
              <a:rPr lang="en-US" sz="1400" b="0" i="0" u="none" strike="noStrike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引入“局部特征+全局特征”的双重约束，有效抑制多物体场景下的特征污染，实现像素级视觉特征与文本语义的精准匹配。</a:t>
            </a:r>
            <a:endParaRPr lang="en-US" sz="1400" b="0" i="0" u="none" strike="noStrike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sp>
        <p:nvSpPr>
          <p:cNvPr id="22" name="AutoShape 22"/>
          <p:cNvSpPr/>
          <p:nvPr/>
        </p:nvSpPr>
        <p:spPr>
          <a:xfrm>
            <a:off x="6644640" y="4767580"/>
            <a:ext cx="4508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2D374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开发端到端原型系统并验证工程价值</a:t>
            </a:r>
            <a:br>
              <a:rPr lang="en-US" sz="1400" b="0" i="0" u="none" strike="noStrike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</a:br>
            <a:r>
              <a:rPr lang="en-US" sz="1400" b="0" i="0" u="none" strike="noStrike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基于提出的算法搭建可部署的原型系统，在真实复杂场景下完成了全面的性能实测，充分验证了算法的工程可行性与实际应用价值。</a:t>
            </a:r>
            <a:endParaRPr lang="en-US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3" name="Picture 15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189980" y="1779270"/>
            <a:ext cx="330200" cy="330200"/>
          </a:xfrm>
          <a:prstGeom prst="rect">
            <a:avLst/>
          </a:prstGeom>
        </p:spPr>
      </p:pic>
      <p:pic>
        <p:nvPicPr>
          <p:cNvPr id="24" name="Picture 18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189980" y="3223895"/>
            <a:ext cx="330200" cy="330200"/>
          </a:xfrm>
          <a:prstGeom prst="rect">
            <a:avLst/>
          </a:prstGeom>
        </p:spPr>
      </p:pic>
      <p:pic>
        <p:nvPicPr>
          <p:cNvPr id="25" name="Picture 21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189980" y="4782820"/>
            <a:ext cx="330200" cy="330200"/>
          </a:xfrm>
          <a:prstGeom prst="rect">
            <a:avLst/>
          </a:prstGeom>
        </p:spPr>
      </p:pic>
      <p:cxnSp>
        <p:nvCxnSpPr>
          <p:cNvPr id="26" name="直接连接符 25"/>
          <p:cNvCxnSpPr/>
          <p:nvPr/>
        </p:nvCxnSpPr>
        <p:spPr>
          <a:xfrm>
            <a:off x="5689600" y="776605"/>
            <a:ext cx="14605" cy="5504180"/>
          </a:xfrm>
          <a:prstGeom prst="line">
            <a:avLst/>
          </a:prstGeom>
          <a:ln w="6350" cap="flat" cmpd="sng" algn="ctr">
            <a:solidFill>
              <a:schemeClr val="accent1"/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1"/>
          <a:srcRect t="34000" r="33676" b="55939"/>
          <a:stretch>
            <a:fillRect/>
          </a:stretch>
        </p:blipFill>
        <p:spPr>
          <a:xfrm>
            <a:off x="133987" y="2"/>
            <a:ext cx="8086205" cy="714895"/>
          </a:xfrm>
          <a:custGeom>
            <a:avLst/>
            <a:gdLst>
              <a:gd name="connsiteX0" fmla="*/ 0 w 8086205"/>
              <a:gd name="connsiteY0" fmla="*/ 0 h 714895"/>
              <a:gd name="connsiteX1" fmla="*/ 7907481 w 8086205"/>
              <a:gd name="connsiteY1" fmla="*/ 0 h 714895"/>
              <a:gd name="connsiteX2" fmla="*/ 8086205 w 8086205"/>
              <a:gd name="connsiteY2" fmla="*/ 714895 h 714895"/>
              <a:gd name="connsiteX3" fmla="*/ 0 w 8086205"/>
              <a:gd name="connsiteY3" fmla="*/ 714895 h 7148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6205" h="714895">
                <a:moveTo>
                  <a:pt x="0" y="0"/>
                </a:moveTo>
                <a:lnTo>
                  <a:pt x="7907481" y="0"/>
                </a:lnTo>
                <a:lnTo>
                  <a:pt x="8086205" y="714895"/>
                </a:lnTo>
                <a:lnTo>
                  <a:pt x="0" y="714895"/>
                </a:lnTo>
                <a:close/>
              </a:path>
            </a:pathLst>
          </a:custGeom>
        </p:spPr>
      </p:pic>
      <p:pic>
        <p:nvPicPr>
          <p:cNvPr id="75" name="图片 74"/>
          <p:cNvPicPr>
            <a:picLocks noChangeAspect="1"/>
          </p:cNvPicPr>
          <p:nvPr/>
        </p:nvPicPr>
        <p:blipFill rotWithShape="1">
          <a:blip r:embed="rId1"/>
          <a:srcRect t="68121" b="25333"/>
          <a:stretch>
            <a:fillRect/>
          </a:stretch>
        </p:blipFill>
        <p:spPr>
          <a:xfrm>
            <a:off x="0" y="6342612"/>
            <a:ext cx="12192000" cy="515389"/>
          </a:xfrm>
          <a:prstGeom prst="rect">
            <a:avLst/>
          </a:prstGeom>
        </p:spPr>
      </p:pic>
      <p:cxnSp>
        <p:nvCxnSpPr>
          <p:cNvPr id="88" name="直线连接符 92"/>
          <p:cNvCxnSpPr/>
          <p:nvPr/>
        </p:nvCxnSpPr>
        <p:spPr>
          <a:xfrm flipH="1">
            <a:off x="-7622" y="6342611"/>
            <a:ext cx="12204000" cy="0"/>
          </a:xfrm>
          <a:prstGeom prst="line">
            <a:avLst/>
          </a:prstGeom>
          <a:ln w="101600">
            <a:gradFill>
              <a:gsLst>
                <a:gs pos="50000">
                  <a:srgbClr val="F6D9A7"/>
                </a:gs>
                <a:gs pos="100000">
                  <a:srgbClr val="D6AA74"/>
                </a:gs>
                <a:gs pos="0">
                  <a:srgbClr val="D6AA74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线连接符 93"/>
          <p:cNvCxnSpPr/>
          <p:nvPr/>
        </p:nvCxnSpPr>
        <p:spPr>
          <a:xfrm flipH="1">
            <a:off x="-7622" y="703815"/>
            <a:ext cx="12204000" cy="0"/>
          </a:xfrm>
          <a:prstGeom prst="line">
            <a:avLst/>
          </a:prstGeom>
          <a:ln w="101600">
            <a:gradFill>
              <a:gsLst>
                <a:gs pos="50000">
                  <a:srgbClr val="F6D9A7"/>
                </a:gs>
                <a:gs pos="100000">
                  <a:srgbClr val="D6AA74"/>
                </a:gs>
                <a:gs pos="0">
                  <a:srgbClr val="D6AA74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9978" y="6380711"/>
            <a:ext cx="1780186" cy="536494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0773" y="176064"/>
            <a:ext cx="1599391" cy="35169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248920" y="102870"/>
            <a:ext cx="7611745" cy="4972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8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核心方法一：</a:t>
            </a:r>
            <a:r>
              <a:rPr lang="zh-CN" altLang="en-US" sz="28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Noto Sans SC" panose="020B0200000000000000" charset="-122"/>
              </a:rPr>
              <a:t>多模态解耦提示学习 (MDPL)</a:t>
            </a:r>
            <a:endParaRPr lang="en-US" sz="2800"/>
          </a:p>
          <a:p>
            <a:endParaRPr lang="zh-CN" altLang="en-US" sz="28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zh-CN" altLang="en-US" sz="28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AutoShape 4"/>
          <p:cNvSpPr/>
          <p:nvPr/>
        </p:nvSpPr>
        <p:spPr>
          <a:xfrm>
            <a:off x="458470" y="889635"/>
            <a:ext cx="10952480" cy="15240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12700" cap="flat" cmpd="sng">
            <a:solidFill>
              <a:schemeClr val="accent1">
                <a:lumMod val="75000"/>
                <a:alpha val="30000"/>
              </a:scheme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5"/>
          <p:cNvSpPr/>
          <p:nvPr/>
        </p:nvSpPr>
        <p:spPr>
          <a:xfrm>
            <a:off x="668655" y="918210"/>
            <a:ext cx="1016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▍ 动机：破解“可见类过拟合”的性能瓶颈</a:t>
            </a:r>
            <a:endParaRPr lang="en-US" sz="1800" b="1" i="0" u="none" strike="noStrike">
              <a:solidFill>
                <a:schemeClr val="accent1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sp>
        <p:nvSpPr>
          <p:cNvPr id="8" name="AutoShape 6"/>
          <p:cNvSpPr/>
          <p:nvPr/>
        </p:nvSpPr>
        <p:spPr>
          <a:xfrm>
            <a:off x="668655" y="1332865"/>
            <a:ext cx="525018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痛点：</a:t>
            </a:r>
            <a:r>
              <a:rPr lang="en-US" sz="1600" b="0" i="0" u="none" strike="noStrike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传统单模态提示仅优化单一特征，导致模型过度依赖可见类的特异性细节，丧失对未知类别的泛化迁移能力。</a:t>
            </a:r>
            <a:endParaRPr lang="en-US" sz="1600" b="0" i="0" u="none" strike="noStrike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7"/>
          <p:cNvSpPr/>
          <p:nvPr/>
        </p:nvSpPr>
        <p:spPr>
          <a:xfrm>
            <a:off x="6076950" y="1332865"/>
            <a:ext cx="5108575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目标：</a:t>
            </a:r>
            <a:r>
              <a:rPr lang="en-US" sz="1600" b="0" i="0" u="none" strike="noStrike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构建双空间解耦机制，实现“已知类别高精度识别”与“未知类别泛化推理”的双向平衡。</a:t>
            </a:r>
            <a:endParaRPr lang="en-US" sz="1600" b="0" i="0" u="none" strike="noStrike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sp>
        <p:nvSpPr>
          <p:cNvPr id="11" name="AutoShape 8"/>
          <p:cNvSpPr/>
          <p:nvPr/>
        </p:nvSpPr>
        <p:spPr>
          <a:xfrm>
            <a:off x="457835" y="2588260"/>
            <a:ext cx="5207000" cy="1968500"/>
          </a:xfrm>
          <a:prstGeom prst="roundRect">
            <a:avLst>
              <a:gd name="adj" fmla="val 0"/>
            </a:avLst>
          </a:prstGeom>
          <a:solidFill>
            <a:schemeClr val="accent1">
              <a:alpha val="79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0"/>
          <p:cNvSpPr/>
          <p:nvPr/>
        </p:nvSpPr>
        <p:spPr>
          <a:xfrm>
            <a:off x="1277620" y="2712720"/>
            <a:ext cx="31496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D374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共享知识空间 (Shared Space)</a:t>
            </a:r>
            <a:endParaRPr lang="en-US" sz="11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3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33425" y="2724150"/>
            <a:ext cx="355600" cy="355600"/>
          </a:xfrm>
          <a:prstGeom prst="rect">
            <a:avLst/>
          </a:prstGeom>
        </p:spPr>
      </p:pic>
      <p:sp>
        <p:nvSpPr>
          <p:cNvPr id="14" name="AutoShape 8"/>
          <p:cNvSpPr/>
          <p:nvPr/>
        </p:nvSpPr>
        <p:spPr>
          <a:xfrm>
            <a:off x="6203950" y="2588260"/>
            <a:ext cx="5207000" cy="1968500"/>
          </a:xfrm>
          <a:prstGeom prst="roundRect">
            <a:avLst>
              <a:gd name="adj" fmla="val 0"/>
            </a:avLst>
          </a:prstGeom>
          <a:solidFill>
            <a:schemeClr val="accent1">
              <a:alpha val="79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1"/>
          <p:cNvSpPr/>
          <p:nvPr/>
        </p:nvSpPr>
        <p:spPr>
          <a:xfrm>
            <a:off x="601980" y="3197225"/>
            <a:ext cx="4906645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600" b="0" i="0" u="none" strike="noStrike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提取跨类别、跨模态的通用语义关联，剥离具体类别的局部细节。这是模型具备“举一反三”能力的基础，为识别未知类别提供可迁移的先验知识。</a:t>
            </a:r>
            <a:endParaRPr lang="en-US" sz="1600" b="0" i="0" u="none" strike="noStrike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sp>
        <p:nvSpPr>
          <p:cNvPr id="16" name="AutoShape 14"/>
          <p:cNvSpPr/>
          <p:nvPr/>
        </p:nvSpPr>
        <p:spPr>
          <a:xfrm>
            <a:off x="6951980" y="272415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D374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特异性知识空间 (Specific Space)</a:t>
            </a:r>
            <a:endParaRPr lang="en-US" sz="11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7" name="Picture 1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24930" y="2724150"/>
            <a:ext cx="355600" cy="355600"/>
          </a:xfrm>
          <a:prstGeom prst="rect">
            <a:avLst/>
          </a:prstGeom>
        </p:spPr>
      </p:pic>
      <p:sp>
        <p:nvSpPr>
          <p:cNvPr id="18" name="AutoShape 15"/>
          <p:cNvSpPr/>
          <p:nvPr/>
        </p:nvSpPr>
        <p:spPr>
          <a:xfrm>
            <a:off x="6424930" y="3249295"/>
            <a:ext cx="4699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600" b="0" i="0" u="none" strike="noStrike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聚焦可见类别独有的、高判别性的局部特征。这是保证已知类别分类准确率的关键，通过精细化学习，确保模型对已见过的类别具有极高的识别精度。</a:t>
            </a:r>
            <a:endParaRPr lang="en-US" sz="1600" b="0" i="0" u="none" strike="noStrike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9" name="AutoShape 16"/>
          <p:cNvSpPr/>
          <p:nvPr/>
        </p:nvSpPr>
        <p:spPr>
          <a:xfrm>
            <a:off x="458470" y="4965065"/>
            <a:ext cx="10952480" cy="635000"/>
          </a:xfrm>
          <a:prstGeom prst="roundRect">
            <a:avLst>
              <a:gd name="adj" fmla="val 0"/>
            </a:avLst>
          </a:prstGeom>
          <a:solidFill>
            <a:srgbClr val="2D3748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17"/>
          <p:cNvSpPr/>
          <p:nvPr/>
        </p:nvSpPr>
        <p:spPr>
          <a:xfrm>
            <a:off x="601980" y="5024120"/>
            <a:ext cx="10607675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chemeClr val="accent1">
                    <a:lumMod val="75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核心机制：双空间严格正交 (Orthogonal) —— 特异性知识的学习不再干扰共享知识的提取，从根本上解决过拟合与泛化的矛盾。</a:t>
            </a:r>
            <a:endParaRPr lang="en-US" sz="1500" b="1" i="0" u="none" strike="noStrike">
              <a:solidFill>
                <a:schemeClr val="accent1">
                  <a:lumMod val="75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1"/>
          <a:srcRect t="34000" r="33676" b="55939"/>
          <a:stretch>
            <a:fillRect/>
          </a:stretch>
        </p:blipFill>
        <p:spPr>
          <a:xfrm>
            <a:off x="2" y="2"/>
            <a:ext cx="8086205" cy="714895"/>
          </a:xfrm>
          <a:custGeom>
            <a:avLst/>
            <a:gdLst>
              <a:gd name="connsiteX0" fmla="*/ 0 w 8086205"/>
              <a:gd name="connsiteY0" fmla="*/ 0 h 714895"/>
              <a:gd name="connsiteX1" fmla="*/ 7907481 w 8086205"/>
              <a:gd name="connsiteY1" fmla="*/ 0 h 714895"/>
              <a:gd name="connsiteX2" fmla="*/ 8086205 w 8086205"/>
              <a:gd name="connsiteY2" fmla="*/ 714895 h 714895"/>
              <a:gd name="connsiteX3" fmla="*/ 0 w 8086205"/>
              <a:gd name="connsiteY3" fmla="*/ 714895 h 7148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6205" h="714895">
                <a:moveTo>
                  <a:pt x="0" y="0"/>
                </a:moveTo>
                <a:lnTo>
                  <a:pt x="7907481" y="0"/>
                </a:lnTo>
                <a:lnTo>
                  <a:pt x="8086205" y="714895"/>
                </a:lnTo>
                <a:lnTo>
                  <a:pt x="0" y="714895"/>
                </a:lnTo>
                <a:close/>
              </a:path>
            </a:pathLst>
          </a:custGeom>
        </p:spPr>
      </p:pic>
      <p:pic>
        <p:nvPicPr>
          <p:cNvPr id="75" name="图片 74"/>
          <p:cNvPicPr>
            <a:picLocks noChangeAspect="1"/>
          </p:cNvPicPr>
          <p:nvPr/>
        </p:nvPicPr>
        <p:blipFill rotWithShape="1">
          <a:blip r:embed="rId1"/>
          <a:srcRect t="68121" b="25333"/>
          <a:stretch>
            <a:fillRect/>
          </a:stretch>
        </p:blipFill>
        <p:spPr>
          <a:xfrm>
            <a:off x="0" y="6342612"/>
            <a:ext cx="12192000" cy="515389"/>
          </a:xfrm>
          <a:prstGeom prst="rect">
            <a:avLst/>
          </a:prstGeom>
        </p:spPr>
      </p:pic>
      <p:cxnSp>
        <p:nvCxnSpPr>
          <p:cNvPr id="88" name="直线连接符 92"/>
          <p:cNvCxnSpPr/>
          <p:nvPr/>
        </p:nvCxnSpPr>
        <p:spPr>
          <a:xfrm flipH="1">
            <a:off x="-7622" y="6342611"/>
            <a:ext cx="12204000" cy="0"/>
          </a:xfrm>
          <a:prstGeom prst="line">
            <a:avLst/>
          </a:prstGeom>
          <a:ln w="101600">
            <a:gradFill>
              <a:gsLst>
                <a:gs pos="50000">
                  <a:srgbClr val="F6D9A7"/>
                </a:gs>
                <a:gs pos="100000">
                  <a:srgbClr val="D6AA74"/>
                </a:gs>
                <a:gs pos="0">
                  <a:srgbClr val="D6AA74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线连接符 93"/>
          <p:cNvCxnSpPr/>
          <p:nvPr/>
        </p:nvCxnSpPr>
        <p:spPr>
          <a:xfrm flipH="1">
            <a:off x="-7622" y="703815"/>
            <a:ext cx="12204000" cy="0"/>
          </a:xfrm>
          <a:prstGeom prst="line">
            <a:avLst/>
          </a:prstGeom>
          <a:ln w="101600">
            <a:gradFill>
              <a:gsLst>
                <a:gs pos="50000">
                  <a:srgbClr val="F6D9A7"/>
                </a:gs>
                <a:gs pos="100000">
                  <a:srgbClr val="D6AA74"/>
                </a:gs>
                <a:gs pos="0">
                  <a:srgbClr val="D6AA74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9978" y="6380711"/>
            <a:ext cx="1780186" cy="536494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0773" y="176064"/>
            <a:ext cx="1599391" cy="35169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248920" y="102870"/>
            <a:ext cx="7679690" cy="4972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8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核心方法一：</a:t>
            </a:r>
            <a:r>
              <a:rPr lang="zh-CN" altLang="en-US" sz="28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Noto Sans SC" panose="020B0200000000000000" charset="-122"/>
              </a:rPr>
              <a:t>多模态解耦提示学习 (MDPL)</a:t>
            </a:r>
            <a:endParaRPr lang="en-US" sz="2800"/>
          </a:p>
          <a:p>
            <a:endParaRPr lang="zh-CN" altLang="en-US" sz="28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186430" y="1009015"/>
            <a:ext cx="2821940" cy="4660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sz="2400" b="1">
                <a:solidFill>
                  <a:srgbClr val="2D374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MDPL 架构详解</a:t>
            </a:r>
            <a:endParaRPr lang="en-US" sz="2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en-US" altLang="en-US" sz="2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125" y="1595755"/>
            <a:ext cx="8695055" cy="3750310"/>
          </a:xfrm>
          <a:prstGeom prst="rect">
            <a:avLst/>
          </a:prstGeom>
        </p:spPr>
      </p:pic>
      <p:sp>
        <p:nvSpPr>
          <p:cNvPr id="8" name="AutoShape 5"/>
          <p:cNvSpPr/>
          <p:nvPr/>
        </p:nvSpPr>
        <p:spPr>
          <a:xfrm>
            <a:off x="8988425" y="879475"/>
            <a:ext cx="2921000" cy="1651000"/>
          </a:xfrm>
          <a:prstGeom prst="roundRect">
            <a:avLst>
              <a:gd name="adj" fmla="val 0"/>
            </a:avLst>
          </a:prstGeom>
          <a:solidFill>
            <a:srgbClr val="4FD1C5">
              <a:alpha val="10000"/>
            </a:srgbClr>
          </a:solidFill>
          <a:ln w="12700" cap="flat" cmpd="sng">
            <a:solidFill>
              <a:srgbClr val="4FD1C5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7"/>
          <p:cNvSpPr/>
          <p:nvPr/>
        </p:nvSpPr>
        <p:spPr>
          <a:xfrm>
            <a:off x="9242425" y="1009015"/>
            <a:ext cx="2413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D37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视觉感知分支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4A556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图像输入 → CNN编码器 → 视觉特征提取</a:t>
            </a:r>
            <a:endParaRPr lang="en-US" sz="1200" b="0" i="0" u="none" strike="noStrike">
              <a:solidFill>
                <a:srgbClr val="4A556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9"/>
          <p:cNvSpPr/>
          <p:nvPr/>
        </p:nvSpPr>
        <p:spPr>
          <a:xfrm>
            <a:off x="9242425" y="1818005"/>
            <a:ext cx="2413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D37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语义理解分支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4A556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文本输入 → Transformer → 文本嵌入生成</a:t>
            </a:r>
            <a:endParaRPr lang="en-US" sz="1200" b="0" i="0" u="none" strike="noStrike">
              <a:solidFill>
                <a:srgbClr val="4A556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8988425" y="2734310"/>
            <a:ext cx="2921000" cy="1651000"/>
          </a:xfrm>
          <a:prstGeom prst="roundRect">
            <a:avLst>
              <a:gd name="adj" fmla="val 0"/>
            </a:avLst>
          </a:prstGeom>
          <a:solidFill>
            <a:srgbClr val="4FD1C5">
              <a:alpha val="10000"/>
            </a:srgbClr>
          </a:solidFill>
          <a:ln w="12700" cap="flat" cmpd="sng">
            <a:solidFill>
              <a:srgbClr val="4FD1C5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8988425" y="4589145"/>
            <a:ext cx="2921000" cy="1651000"/>
          </a:xfrm>
          <a:prstGeom prst="roundRect">
            <a:avLst>
              <a:gd name="adj" fmla="val 0"/>
            </a:avLst>
          </a:prstGeom>
          <a:solidFill>
            <a:srgbClr val="4FD1C5">
              <a:alpha val="10000"/>
            </a:srgbClr>
          </a:solidFill>
          <a:ln w="12700" cap="flat" cmpd="sng">
            <a:solidFill>
              <a:srgbClr val="4FD1C5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9178925" y="2857500"/>
            <a:ext cx="27305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D37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共享知识空间 (Shared Space)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4A556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凝练跨模态通用语义，为未知类别提供泛化基础</a:t>
            </a:r>
            <a:endParaRPr lang="en-US" sz="1200" b="0" i="0" u="none" strike="noStrike">
              <a:solidFill>
                <a:srgbClr val="4A556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9178925" y="3675380"/>
            <a:ext cx="27305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D37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特异性空间 (Orthogonal Space)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4A556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正交解耦，专门存储可见类的独有判别特征</a:t>
            </a:r>
            <a:endParaRPr lang="en-US" sz="1200" b="0" i="0" u="none" strike="noStrike">
              <a:solidFill>
                <a:srgbClr val="4A556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9178925" y="4705985"/>
            <a:ext cx="27305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D37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可见类预测 (Seen Classes)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4A556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融合「共享+特异性」特征，最大化判别能力</a:t>
            </a:r>
            <a:endParaRPr lang="en-US" sz="1200" b="0" i="0" u="none" strike="noStrike">
              <a:solidFill>
                <a:srgbClr val="4A556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9178925" y="5532755"/>
            <a:ext cx="27305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D37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不可见类预测 (Unseen Classes)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4A556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仅依赖「共享空间」，规避特异性知识的干扰</a:t>
            </a:r>
            <a:endParaRPr lang="en-US" sz="1200" b="0" i="0" u="none" strike="noStrike">
              <a:solidFill>
                <a:srgbClr val="4A556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8" name="下箭头 17"/>
          <p:cNvSpPr/>
          <p:nvPr/>
        </p:nvSpPr>
        <p:spPr>
          <a:xfrm>
            <a:off x="10396220" y="2549525"/>
            <a:ext cx="75565" cy="193675"/>
          </a:xfrm>
          <a:prstGeom prst="downArrow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下箭头 18"/>
          <p:cNvSpPr/>
          <p:nvPr/>
        </p:nvSpPr>
        <p:spPr>
          <a:xfrm>
            <a:off x="10396220" y="4379595"/>
            <a:ext cx="75565" cy="193675"/>
          </a:xfrm>
          <a:prstGeom prst="downArrow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1"/>
          <a:srcRect t="34000" r="33676" b="55939"/>
          <a:stretch>
            <a:fillRect/>
          </a:stretch>
        </p:blipFill>
        <p:spPr>
          <a:xfrm>
            <a:off x="2" y="2"/>
            <a:ext cx="8086205" cy="714895"/>
          </a:xfrm>
          <a:custGeom>
            <a:avLst/>
            <a:gdLst>
              <a:gd name="connsiteX0" fmla="*/ 0 w 8086205"/>
              <a:gd name="connsiteY0" fmla="*/ 0 h 714895"/>
              <a:gd name="connsiteX1" fmla="*/ 7907481 w 8086205"/>
              <a:gd name="connsiteY1" fmla="*/ 0 h 714895"/>
              <a:gd name="connsiteX2" fmla="*/ 8086205 w 8086205"/>
              <a:gd name="connsiteY2" fmla="*/ 714895 h 714895"/>
              <a:gd name="connsiteX3" fmla="*/ 0 w 8086205"/>
              <a:gd name="connsiteY3" fmla="*/ 714895 h 7148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6205" h="714895">
                <a:moveTo>
                  <a:pt x="0" y="0"/>
                </a:moveTo>
                <a:lnTo>
                  <a:pt x="7907481" y="0"/>
                </a:lnTo>
                <a:lnTo>
                  <a:pt x="8086205" y="714895"/>
                </a:lnTo>
                <a:lnTo>
                  <a:pt x="0" y="714895"/>
                </a:lnTo>
                <a:close/>
              </a:path>
            </a:pathLst>
          </a:custGeom>
        </p:spPr>
      </p:pic>
      <p:pic>
        <p:nvPicPr>
          <p:cNvPr id="75" name="图片 74"/>
          <p:cNvPicPr>
            <a:picLocks noChangeAspect="1"/>
          </p:cNvPicPr>
          <p:nvPr/>
        </p:nvPicPr>
        <p:blipFill rotWithShape="1">
          <a:blip r:embed="rId1"/>
          <a:srcRect t="68121" b="25333"/>
          <a:stretch>
            <a:fillRect/>
          </a:stretch>
        </p:blipFill>
        <p:spPr>
          <a:xfrm>
            <a:off x="0" y="6342612"/>
            <a:ext cx="12192000" cy="515389"/>
          </a:xfrm>
          <a:prstGeom prst="rect">
            <a:avLst/>
          </a:prstGeom>
        </p:spPr>
      </p:pic>
      <p:cxnSp>
        <p:nvCxnSpPr>
          <p:cNvPr id="88" name="直线连接符 92"/>
          <p:cNvCxnSpPr/>
          <p:nvPr/>
        </p:nvCxnSpPr>
        <p:spPr>
          <a:xfrm flipH="1">
            <a:off x="-7622" y="6342611"/>
            <a:ext cx="12204000" cy="0"/>
          </a:xfrm>
          <a:prstGeom prst="line">
            <a:avLst/>
          </a:prstGeom>
          <a:ln w="101600">
            <a:gradFill>
              <a:gsLst>
                <a:gs pos="50000">
                  <a:srgbClr val="F6D9A7"/>
                </a:gs>
                <a:gs pos="100000">
                  <a:srgbClr val="D6AA74"/>
                </a:gs>
                <a:gs pos="0">
                  <a:srgbClr val="D6AA74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线连接符 93"/>
          <p:cNvCxnSpPr/>
          <p:nvPr/>
        </p:nvCxnSpPr>
        <p:spPr>
          <a:xfrm flipH="1">
            <a:off x="-7622" y="703815"/>
            <a:ext cx="12204000" cy="0"/>
          </a:xfrm>
          <a:prstGeom prst="line">
            <a:avLst/>
          </a:prstGeom>
          <a:ln w="101600">
            <a:gradFill>
              <a:gsLst>
                <a:gs pos="50000">
                  <a:srgbClr val="F6D9A7"/>
                </a:gs>
                <a:gs pos="100000">
                  <a:srgbClr val="D6AA74"/>
                </a:gs>
                <a:gs pos="0">
                  <a:srgbClr val="D6AA74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9978" y="6380711"/>
            <a:ext cx="1780186" cy="536494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0773" y="176064"/>
            <a:ext cx="1599391" cy="35169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248920" y="102870"/>
            <a:ext cx="7165340" cy="4972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8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核心方法一：</a:t>
            </a:r>
            <a:r>
              <a:rPr lang="zh-CN" altLang="en-US" sz="28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Noto Sans SC" panose="020B0200000000000000" charset="-122"/>
              </a:rPr>
              <a:t>多模态解耦提示学习 (MDPL)</a:t>
            </a:r>
            <a:endParaRPr lang="en-US" sz="2800"/>
          </a:p>
          <a:p>
            <a:endParaRPr lang="zh-CN" altLang="en-US" sz="28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zh-CN" altLang="en-US" sz="28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51790" y="879475"/>
            <a:ext cx="6096000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 algn="l">
              <a:lnSpc>
                <a:spcPct val="125000"/>
              </a:lnSpc>
              <a:defRPr/>
            </a:pPr>
            <a:r>
              <a:rPr lang="en-US" sz="3200" b="1">
                <a:solidFill>
                  <a:srgbClr val="2D37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论文核心方法：MDPL 效果对比</a:t>
            </a:r>
            <a:endParaRPr lang="en-US" altLang="en-US" sz="3200" b="1">
              <a:solidFill>
                <a:srgbClr val="2D374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>
            <p:custDataLst>
              <p:tags r:id="rId4"/>
            </p:custDataLst>
          </p:nvPr>
        </p:nvSpPr>
        <p:spPr>
          <a:xfrm>
            <a:off x="5715000" y="2006600"/>
            <a:ext cx="558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2D37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跨模态特征精准锚定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400" b="0" i="0" u="none" strike="noStrike">
                <a:solidFill>
                  <a:srgbClr val="4A556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MDPL通过联合优化视觉与语言特征，将图像锚点与正样本文本在特征空间中紧密聚合，有效弥合了模态间的语义鸿沟，实现比单模态更紧密的特征关联。</a:t>
            </a:r>
            <a:endParaRPr lang="en-US" sz="1400" b="0" i="0" u="none" strike="noStrike">
              <a:solidFill>
                <a:srgbClr val="4A556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7" name="Picture 7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080000" y="2273300"/>
            <a:ext cx="457200" cy="457200"/>
          </a:xfrm>
          <a:prstGeom prst="rect">
            <a:avLst/>
          </a:prstGeom>
        </p:spPr>
      </p:pic>
      <p:sp>
        <p:nvSpPr>
          <p:cNvPr id="11" name="AutoShape 11"/>
          <p:cNvSpPr/>
          <p:nvPr>
            <p:custDataLst>
              <p:tags r:id="rId8"/>
            </p:custDataLst>
          </p:nvPr>
        </p:nvSpPr>
        <p:spPr>
          <a:xfrm>
            <a:off x="5715000" y="3403600"/>
            <a:ext cx="558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2D37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正负样本判别边界增强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400" b="0" i="0" u="none" strike="noStrike">
                <a:solidFill>
                  <a:srgbClr val="4A556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模型主动推开负样本干扰，显著拉大正负样本间的特征距离，构建出更清晰的决策边界。这不仅提升了模型对相似样本的区分度，还增强了特征的鲁棒性。</a:t>
            </a:r>
            <a:endParaRPr lang="en-US" sz="1400" b="0" i="0" u="none" strike="noStrike">
              <a:solidFill>
                <a:srgbClr val="4A556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0" name="Picture 10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080000" y="3670300"/>
            <a:ext cx="457200" cy="457200"/>
          </a:xfrm>
          <a:prstGeom prst="rect">
            <a:avLst/>
          </a:prstGeom>
        </p:spPr>
      </p:pic>
      <p:sp>
        <p:nvSpPr>
          <p:cNvPr id="14" name="AutoShape 14"/>
          <p:cNvSpPr/>
          <p:nvPr>
            <p:custDataLst>
              <p:tags r:id="rId12"/>
            </p:custDataLst>
          </p:nvPr>
        </p:nvSpPr>
        <p:spPr>
          <a:xfrm>
            <a:off x="5715000" y="4800600"/>
            <a:ext cx="558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2D37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下游任务性能显著增益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400" b="0" i="0" u="none" strike="noStrike">
                <a:solidFill>
                  <a:srgbClr val="4A556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更优的特征对齐效果直接转化为实际性能的提升。在图像检索、图文匹配等下游任务中，MDPL展现出比传统单模态方法更稳定、更优异的表现。</a:t>
            </a:r>
            <a:endParaRPr lang="en-US" sz="1400" b="0" i="0" u="none" strike="noStrike">
              <a:solidFill>
                <a:srgbClr val="4A556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3" name="Picture 13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5080000" y="5067300"/>
            <a:ext cx="457200" cy="45720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16"/>
          <a:srcRect l="4678" t="2432" r="3545" b="906"/>
          <a:stretch>
            <a:fillRect/>
          </a:stretch>
        </p:blipFill>
        <p:spPr>
          <a:xfrm>
            <a:off x="0" y="1750695"/>
            <a:ext cx="4987290" cy="444055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1"/>
          <a:srcRect t="34000" r="33676" b="55939"/>
          <a:stretch>
            <a:fillRect/>
          </a:stretch>
        </p:blipFill>
        <p:spPr>
          <a:xfrm>
            <a:off x="2" y="2"/>
            <a:ext cx="8086205" cy="714895"/>
          </a:xfrm>
          <a:custGeom>
            <a:avLst/>
            <a:gdLst>
              <a:gd name="connsiteX0" fmla="*/ 0 w 8086205"/>
              <a:gd name="connsiteY0" fmla="*/ 0 h 714895"/>
              <a:gd name="connsiteX1" fmla="*/ 7907481 w 8086205"/>
              <a:gd name="connsiteY1" fmla="*/ 0 h 714895"/>
              <a:gd name="connsiteX2" fmla="*/ 8086205 w 8086205"/>
              <a:gd name="connsiteY2" fmla="*/ 714895 h 714895"/>
              <a:gd name="connsiteX3" fmla="*/ 0 w 8086205"/>
              <a:gd name="connsiteY3" fmla="*/ 714895 h 7148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6205" h="714895">
                <a:moveTo>
                  <a:pt x="0" y="0"/>
                </a:moveTo>
                <a:lnTo>
                  <a:pt x="7907481" y="0"/>
                </a:lnTo>
                <a:lnTo>
                  <a:pt x="8086205" y="714895"/>
                </a:lnTo>
                <a:lnTo>
                  <a:pt x="0" y="714895"/>
                </a:lnTo>
                <a:close/>
              </a:path>
            </a:pathLst>
          </a:custGeom>
        </p:spPr>
      </p:pic>
      <p:pic>
        <p:nvPicPr>
          <p:cNvPr id="75" name="图片 74"/>
          <p:cNvPicPr>
            <a:picLocks noChangeAspect="1"/>
          </p:cNvPicPr>
          <p:nvPr/>
        </p:nvPicPr>
        <p:blipFill rotWithShape="1">
          <a:blip r:embed="rId1"/>
          <a:srcRect t="68121" b="25333"/>
          <a:stretch>
            <a:fillRect/>
          </a:stretch>
        </p:blipFill>
        <p:spPr>
          <a:xfrm>
            <a:off x="0" y="6342612"/>
            <a:ext cx="12192000" cy="515389"/>
          </a:xfrm>
          <a:prstGeom prst="rect">
            <a:avLst/>
          </a:prstGeom>
        </p:spPr>
      </p:pic>
      <p:cxnSp>
        <p:nvCxnSpPr>
          <p:cNvPr id="88" name="直线连接符 92"/>
          <p:cNvCxnSpPr/>
          <p:nvPr/>
        </p:nvCxnSpPr>
        <p:spPr>
          <a:xfrm flipH="1">
            <a:off x="-7622" y="6342611"/>
            <a:ext cx="12204000" cy="0"/>
          </a:xfrm>
          <a:prstGeom prst="line">
            <a:avLst/>
          </a:prstGeom>
          <a:ln w="101600">
            <a:gradFill>
              <a:gsLst>
                <a:gs pos="50000">
                  <a:srgbClr val="F6D9A7"/>
                </a:gs>
                <a:gs pos="100000">
                  <a:srgbClr val="D6AA74"/>
                </a:gs>
                <a:gs pos="0">
                  <a:srgbClr val="D6AA74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线连接符 93"/>
          <p:cNvCxnSpPr/>
          <p:nvPr/>
        </p:nvCxnSpPr>
        <p:spPr>
          <a:xfrm flipH="1">
            <a:off x="-7622" y="703815"/>
            <a:ext cx="12204000" cy="0"/>
          </a:xfrm>
          <a:prstGeom prst="line">
            <a:avLst/>
          </a:prstGeom>
          <a:ln w="101600">
            <a:gradFill>
              <a:gsLst>
                <a:gs pos="50000">
                  <a:srgbClr val="F6D9A7"/>
                </a:gs>
                <a:gs pos="100000">
                  <a:srgbClr val="D6AA74"/>
                </a:gs>
                <a:gs pos="0">
                  <a:srgbClr val="D6AA74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9978" y="6380711"/>
            <a:ext cx="1780186" cy="536494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0773" y="176064"/>
            <a:ext cx="1599391" cy="35169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248920" y="102870"/>
            <a:ext cx="7694295" cy="4972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8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核心方法二：双重图像</a:t>
            </a:r>
            <a:r>
              <a:rPr lang="en-US" altLang="zh-CN" sz="28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sz="28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文本</a:t>
            </a:r>
            <a:r>
              <a:rPr lang="zh-CN" altLang="en-US" sz="28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对齐</a:t>
            </a:r>
            <a:endParaRPr lang="zh-CN" altLang="en-US" sz="28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zh-CN" altLang="en-US" sz="28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AutoShape 4"/>
          <p:cNvSpPr/>
          <p:nvPr/>
        </p:nvSpPr>
        <p:spPr>
          <a:xfrm>
            <a:off x="441960" y="1287145"/>
            <a:ext cx="5207000" cy="3937000"/>
          </a:xfrm>
          <a:prstGeom prst="roundRect">
            <a:avLst>
              <a:gd name="adj" fmla="val 0"/>
            </a:avLst>
          </a:prstGeom>
          <a:solidFill>
            <a:schemeClr val="accent5">
              <a:lumMod val="60000"/>
              <a:lumOff val="40000"/>
            </a:schemeClr>
          </a:solidFill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5"/>
          <p:cNvSpPr/>
          <p:nvPr/>
        </p:nvSpPr>
        <p:spPr>
          <a:xfrm>
            <a:off x="695960" y="1287145"/>
            <a:ext cx="469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01 动机：解决“细粒度对齐偏差</a:t>
            </a:r>
            <a:r>
              <a:rPr lang="en-US" sz="2000" b="1" i="0" u="none" strike="noStrike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”</a:t>
            </a:r>
            <a:endParaRPr lang="en-US" sz="2000" b="1" i="0" u="none" strike="noStrike">
              <a:solidFill>
                <a:schemeClr val="accent1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6"/>
          <p:cNvSpPr/>
          <p:nvPr/>
        </p:nvSpPr>
        <p:spPr>
          <a:xfrm>
            <a:off x="695960" y="1941830"/>
            <a:ext cx="4699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D374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▍问题根源：全局特征的局限性</a:t>
            </a:r>
            <a:endParaRPr lang="en-US" sz="11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AutoShape 7"/>
          <p:cNvSpPr/>
          <p:nvPr/>
        </p:nvSpPr>
        <p:spPr>
          <a:xfrm>
            <a:off x="695960" y="2393315"/>
            <a:ext cx="484759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传统MDPL仅实现全局层面的粗粒度对齐，当图像包含多物体或复杂场景时，全局特征会混合不同对象的语义信息，导致模型难以精准匹配局部区域与对应文本描述，产生“对齐模糊”。</a:t>
            </a:r>
            <a:endParaRPr lang="en-US" sz="1400" b="0" i="0" u="none" strike="noStrike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sp>
        <p:nvSpPr>
          <p:cNvPr id="10" name="AutoShape 9"/>
          <p:cNvSpPr/>
          <p:nvPr/>
        </p:nvSpPr>
        <p:spPr>
          <a:xfrm>
            <a:off x="695960" y="3719195"/>
            <a:ext cx="4699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D374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▍核心目标：像素级的精准聚焦</a:t>
            </a:r>
            <a:endParaRPr lang="en-US" sz="11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AutoShape 10"/>
          <p:cNvSpPr/>
          <p:nvPr/>
        </p:nvSpPr>
        <p:spPr>
          <a:xfrm>
            <a:off x="695960" y="4104005"/>
            <a:ext cx="4699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赋予模型“视觉注意力聚焦”能力，模拟人类视觉系统，动态锁定图像中与当前文本最相关的关键区域，实现从全局到局部的细粒度、像素级图文对齐，消除语义匹配的歧义性。</a:t>
            </a:r>
            <a:endParaRPr lang="en-US" sz="1400" b="0" i="0" u="none" strike="noStrike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431165" y="3472815"/>
            <a:ext cx="5213350" cy="0"/>
          </a:xfrm>
          <a:prstGeom prst="line">
            <a:avLst/>
          </a:prstGeom>
          <a:ln w="6350" cap="flat" cmpd="sng" algn="ctr">
            <a:solidFill>
              <a:schemeClr val="accent1"/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3" name="AutoShape 11"/>
          <p:cNvSpPr/>
          <p:nvPr/>
        </p:nvSpPr>
        <p:spPr>
          <a:xfrm>
            <a:off x="6223000" y="1287145"/>
            <a:ext cx="5207000" cy="3937000"/>
          </a:xfrm>
          <a:prstGeom prst="roundRect">
            <a:avLst>
              <a:gd name="adj" fmla="val 0"/>
            </a:avLst>
          </a:prstGeom>
          <a:solidFill>
            <a:schemeClr val="accent5">
              <a:lumMod val="60000"/>
              <a:lumOff val="40000"/>
            </a:schemeClr>
          </a:solidFill>
          <a:ln w="12700" cap="flat" cmpd="sng">
            <a:solidFill>
              <a:srgbClr val="4FD1C5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2"/>
          <p:cNvSpPr/>
          <p:nvPr/>
        </p:nvSpPr>
        <p:spPr>
          <a:xfrm>
            <a:off x="6477000" y="1287145"/>
            <a:ext cx="469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chemeClr val="accent1">
                    <a:lumMod val="75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核心思想：多维度增强对齐机制</a:t>
            </a:r>
            <a:endParaRPr lang="en-US" sz="2000" b="1" i="0" u="none" strike="noStrike">
              <a:solidFill>
                <a:schemeClr val="accent1">
                  <a:lumMod val="75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4"/>
          <p:cNvSpPr/>
          <p:nvPr/>
        </p:nvSpPr>
        <p:spPr>
          <a:xfrm>
            <a:off x="7048500" y="1941830"/>
            <a:ext cx="43815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2D37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双向对比学习约束</a:t>
            </a:r>
            <a:endParaRPr lang="en-US" sz="1100"/>
          </a:p>
        </p:txBody>
      </p:sp>
      <p:pic>
        <p:nvPicPr>
          <p:cNvPr id="16" name="Picture 1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74155" y="1967230"/>
            <a:ext cx="279400" cy="279400"/>
          </a:xfrm>
          <a:prstGeom prst="rect">
            <a:avLst/>
          </a:prstGeom>
        </p:spPr>
      </p:pic>
      <p:sp>
        <p:nvSpPr>
          <p:cNvPr id="17" name="AutoShape 15"/>
          <p:cNvSpPr/>
          <p:nvPr/>
        </p:nvSpPr>
        <p:spPr>
          <a:xfrm>
            <a:off x="6477000" y="2246630"/>
            <a:ext cx="469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构建图像→文本与文本→图像的双向对比损失，打破单向匹配局限，强化跨模态语义的互逆一致性，减少语义偏移误差。</a:t>
            </a:r>
            <a:endParaRPr lang="en-US" sz="1400" b="0" i="0" u="none" strike="noStrike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sp>
        <p:nvSpPr>
          <p:cNvPr id="18" name="AutoShape 17"/>
          <p:cNvSpPr/>
          <p:nvPr/>
        </p:nvSpPr>
        <p:spPr>
          <a:xfrm>
            <a:off x="7048500" y="2958465"/>
            <a:ext cx="43815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2D37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动态区域交叉注意力</a:t>
            </a:r>
            <a:endParaRPr lang="en-US" sz="1100"/>
          </a:p>
        </p:txBody>
      </p:sp>
      <p:pic>
        <p:nvPicPr>
          <p:cNvPr id="19" name="Picture 1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574155" y="2958465"/>
            <a:ext cx="279400" cy="279400"/>
          </a:xfrm>
          <a:prstGeom prst="rect">
            <a:avLst/>
          </a:prstGeom>
        </p:spPr>
      </p:pic>
      <p:sp>
        <p:nvSpPr>
          <p:cNvPr id="20" name="AutoShape 18"/>
          <p:cNvSpPr/>
          <p:nvPr/>
        </p:nvSpPr>
        <p:spPr>
          <a:xfrm>
            <a:off x="6477000" y="3282315"/>
            <a:ext cx="469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引入多头交叉注意力机制，让模型自适应地关注图像显著物体与文本关键词，建立局部区域与文本片段的精准映射关系。</a:t>
            </a:r>
            <a:endParaRPr lang="en-US" sz="1400" b="0" i="0" u="none" strike="noStrike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1" name="AutoShape 20"/>
          <p:cNvSpPr/>
          <p:nvPr/>
        </p:nvSpPr>
        <p:spPr>
          <a:xfrm>
            <a:off x="7048500" y="3975100"/>
            <a:ext cx="43815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2D37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全局-局部多粒度增强</a:t>
            </a:r>
            <a:endParaRPr lang="en-US" sz="1100"/>
          </a:p>
        </p:txBody>
      </p:sp>
      <p:pic>
        <p:nvPicPr>
          <p:cNvPr id="22" name="Picture 19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574155" y="3979545"/>
            <a:ext cx="279400" cy="279400"/>
          </a:xfrm>
          <a:prstGeom prst="rect">
            <a:avLst/>
          </a:prstGeom>
        </p:spPr>
      </p:pic>
      <p:sp>
        <p:nvSpPr>
          <p:cNvPr id="23" name="AutoShape 21"/>
          <p:cNvSpPr/>
          <p:nvPr/>
        </p:nvSpPr>
        <p:spPr>
          <a:xfrm>
            <a:off x="6477000" y="4401185"/>
            <a:ext cx="469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通过区域掩码与随机裁剪等策略，迫使模型学习多尺度视觉特征，兼顾整体场景理解与细粒度纹理的精准捕捉。</a:t>
            </a:r>
            <a:endParaRPr lang="en-US" sz="1400" b="0" i="0" u="none" strike="noStrike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1"/>
          <a:srcRect t="34000" r="33676" b="55939"/>
          <a:stretch>
            <a:fillRect/>
          </a:stretch>
        </p:blipFill>
        <p:spPr>
          <a:xfrm>
            <a:off x="2" y="2"/>
            <a:ext cx="8086205" cy="714895"/>
          </a:xfrm>
          <a:custGeom>
            <a:avLst/>
            <a:gdLst>
              <a:gd name="connsiteX0" fmla="*/ 0 w 8086205"/>
              <a:gd name="connsiteY0" fmla="*/ 0 h 714895"/>
              <a:gd name="connsiteX1" fmla="*/ 7907481 w 8086205"/>
              <a:gd name="connsiteY1" fmla="*/ 0 h 714895"/>
              <a:gd name="connsiteX2" fmla="*/ 8086205 w 8086205"/>
              <a:gd name="connsiteY2" fmla="*/ 714895 h 714895"/>
              <a:gd name="connsiteX3" fmla="*/ 0 w 8086205"/>
              <a:gd name="connsiteY3" fmla="*/ 714895 h 7148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6205" h="714895">
                <a:moveTo>
                  <a:pt x="0" y="0"/>
                </a:moveTo>
                <a:lnTo>
                  <a:pt x="7907481" y="0"/>
                </a:lnTo>
                <a:lnTo>
                  <a:pt x="8086205" y="714895"/>
                </a:lnTo>
                <a:lnTo>
                  <a:pt x="0" y="714895"/>
                </a:lnTo>
                <a:close/>
              </a:path>
            </a:pathLst>
          </a:custGeom>
        </p:spPr>
      </p:pic>
      <p:pic>
        <p:nvPicPr>
          <p:cNvPr id="75" name="图片 74"/>
          <p:cNvPicPr>
            <a:picLocks noChangeAspect="1"/>
          </p:cNvPicPr>
          <p:nvPr/>
        </p:nvPicPr>
        <p:blipFill rotWithShape="1">
          <a:blip r:embed="rId1"/>
          <a:srcRect t="68121" b="25333"/>
          <a:stretch>
            <a:fillRect/>
          </a:stretch>
        </p:blipFill>
        <p:spPr>
          <a:xfrm>
            <a:off x="0" y="6342612"/>
            <a:ext cx="12192000" cy="515389"/>
          </a:xfrm>
          <a:prstGeom prst="rect">
            <a:avLst/>
          </a:prstGeom>
        </p:spPr>
      </p:pic>
      <p:cxnSp>
        <p:nvCxnSpPr>
          <p:cNvPr id="88" name="直线连接符 92"/>
          <p:cNvCxnSpPr/>
          <p:nvPr/>
        </p:nvCxnSpPr>
        <p:spPr>
          <a:xfrm flipH="1">
            <a:off x="-7622" y="6342611"/>
            <a:ext cx="12204000" cy="0"/>
          </a:xfrm>
          <a:prstGeom prst="line">
            <a:avLst/>
          </a:prstGeom>
          <a:ln w="101600">
            <a:gradFill>
              <a:gsLst>
                <a:gs pos="50000">
                  <a:srgbClr val="F6D9A7"/>
                </a:gs>
                <a:gs pos="100000">
                  <a:srgbClr val="D6AA74"/>
                </a:gs>
                <a:gs pos="0">
                  <a:srgbClr val="D6AA74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线连接符 93"/>
          <p:cNvCxnSpPr/>
          <p:nvPr/>
        </p:nvCxnSpPr>
        <p:spPr>
          <a:xfrm flipH="1">
            <a:off x="-7622" y="703815"/>
            <a:ext cx="12204000" cy="0"/>
          </a:xfrm>
          <a:prstGeom prst="line">
            <a:avLst/>
          </a:prstGeom>
          <a:ln w="101600">
            <a:gradFill>
              <a:gsLst>
                <a:gs pos="50000">
                  <a:srgbClr val="F6D9A7"/>
                </a:gs>
                <a:gs pos="100000">
                  <a:srgbClr val="D6AA74"/>
                </a:gs>
                <a:gs pos="0">
                  <a:srgbClr val="D6AA74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9978" y="6380711"/>
            <a:ext cx="1780186" cy="536494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0773" y="176064"/>
            <a:ext cx="1599391" cy="35169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248920" y="102870"/>
            <a:ext cx="7590155" cy="4972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8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核心方法二：双重图像</a:t>
            </a:r>
            <a:r>
              <a:rPr lang="en-US" altLang="zh-CN" sz="28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-</a:t>
            </a:r>
            <a:r>
              <a:rPr lang="zh-CN" altLang="en-US" sz="28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文本对齐</a:t>
            </a:r>
            <a:endParaRPr lang="zh-CN" altLang="en-US" sz="28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zh-CN" altLang="en-US" sz="28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9385" y="1602105"/>
            <a:ext cx="8477885" cy="413321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623060" y="1059815"/>
            <a:ext cx="577913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双重图像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文本对齐方法框架图</a:t>
            </a:r>
            <a:endParaRPr lang="zh-CN" altLang="en-US" sz="2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AutoShape 4"/>
          <p:cNvSpPr/>
          <p:nvPr/>
        </p:nvSpPr>
        <p:spPr>
          <a:xfrm>
            <a:off x="8785860" y="1911985"/>
            <a:ext cx="3074035" cy="3466465"/>
          </a:xfrm>
          <a:prstGeom prst="roundRect">
            <a:avLst>
              <a:gd name="adj" fmla="val 0"/>
            </a:avLst>
          </a:prstGeom>
          <a:solidFill>
            <a:schemeClr val="accent1">
              <a:alpha val="69000"/>
            </a:schemeClr>
          </a:solidFill>
          <a:ln w="12700" cap="flat" cmpd="sng">
            <a:solidFill>
              <a:srgbClr val="7030A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7"/>
          <p:cNvSpPr/>
          <p:nvPr/>
        </p:nvSpPr>
        <p:spPr>
          <a:xfrm>
            <a:off x="8785860" y="3034030"/>
            <a:ext cx="328295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D37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双重对比对齐正则化 (DCA)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8785860" y="3792855"/>
            <a:ext cx="333883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D37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交叉注意力对齐模块 (CAM)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8785860" y="4551680"/>
            <a:ext cx="2865755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D37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多粒度数据增强 (MGDA)</a:t>
            </a:r>
            <a:endParaRPr lang="en-US" sz="1100"/>
          </a:p>
        </p:txBody>
      </p:sp>
      <p:sp>
        <p:nvSpPr>
          <p:cNvPr id="11" name="文本框 10"/>
          <p:cNvSpPr txBox="1"/>
          <p:nvPr/>
        </p:nvSpPr>
        <p:spPr>
          <a:xfrm>
            <a:off x="9233535" y="2287905"/>
            <a:ext cx="21793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</a:rPr>
              <a:t>三大核心创新贡献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1"/>
          <a:srcRect t="34000" r="33676" b="55939"/>
          <a:stretch>
            <a:fillRect/>
          </a:stretch>
        </p:blipFill>
        <p:spPr>
          <a:xfrm>
            <a:off x="2" y="2"/>
            <a:ext cx="8086205" cy="714895"/>
          </a:xfrm>
          <a:custGeom>
            <a:avLst/>
            <a:gdLst>
              <a:gd name="connsiteX0" fmla="*/ 0 w 8086205"/>
              <a:gd name="connsiteY0" fmla="*/ 0 h 714895"/>
              <a:gd name="connsiteX1" fmla="*/ 7907481 w 8086205"/>
              <a:gd name="connsiteY1" fmla="*/ 0 h 714895"/>
              <a:gd name="connsiteX2" fmla="*/ 8086205 w 8086205"/>
              <a:gd name="connsiteY2" fmla="*/ 714895 h 714895"/>
              <a:gd name="connsiteX3" fmla="*/ 0 w 8086205"/>
              <a:gd name="connsiteY3" fmla="*/ 714895 h 7148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6205" h="714895">
                <a:moveTo>
                  <a:pt x="0" y="0"/>
                </a:moveTo>
                <a:lnTo>
                  <a:pt x="7907481" y="0"/>
                </a:lnTo>
                <a:lnTo>
                  <a:pt x="8086205" y="714895"/>
                </a:lnTo>
                <a:lnTo>
                  <a:pt x="0" y="714895"/>
                </a:lnTo>
                <a:close/>
              </a:path>
            </a:pathLst>
          </a:custGeom>
        </p:spPr>
      </p:pic>
      <p:pic>
        <p:nvPicPr>
          <p:cNvPr id="75" name="图片 74"/>
          <p:cNvPicPr>
            <a:picLocks noChangeAspect="1"/>
          </p:cNvPicPr>
          <p:nvPr/>
        </p:nvPicPr>
        <p:blipFill rotWithShape="1">
          <a:blip r:embed="rId1"/>
          <a:srcRect t="68121" b="25333"/>
          <a:stretch>
            <a:fillRect/>
          </a:stretch>
        </p:blipFill>
        <p:spPr>
          <a:xfrm>
            <a:off x="0" y="6342612"/>
            <a:ext cx="12192000" cy="515389"/>
          </a:xfrm>
          <a:prstGeom prst="rect">
            <a:avLst/>
          </a:prstGeom>
        </p:spPr>
      </p:pic>
      <p:cxnSp>
        <p:nvCxnSpPr>
          <p:cNvPr id="88" name="直线连接符 92"/>
          <p:cNvCxnSpPr/>
          <p:nvPr/>
        </p:nvCxnSpPr>
        <p:spPr>
          <a:xfrm flipH="1">
            <a:off x="-7622" y="6342611"/>
            <a:ext cx="12204000" cy="0"/>
          </a:xfrm>
          <a:prstGeom prst="line">
            <a:avLst/>
          </a:prstGeom>
          <a:ln w="101600">
            <a:gradFill>
              <a:gsLst>
                <a:gs pos="50000">
                  <a:srgbClr val="F6D9A7"/>
                </a:gs>
                <a:gs pos="100000">
                  <a:srgbClr val="D6AA74"/>
                </a:gs>
                <a:gs pos="0">
                  <a:srgbClr val="D6AA74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线连接符 93"/>
          <p:cNvCxnSpPr/>
          <p:nvPr/>
        </p:nvCxnSpPr>
        <p:spPr>
          <a:xfrm flipH="1">
            <a:off x="-7622" y="703815"/>
            <a:ext cx="12204000" cy="0"/>
          </a:xfrm>
          <a:prstGeom prst="line">
            <a:avLst/>
          </a:prstGeom>
          <a:ln w="101600">
            <a:gradFill>
              <a:gsLst>
                <a:gs pos="50000">
                  <a:srgbClr val="F6D9A7"/>
                </a:gs>
                <a:gs pos="100000">
                  <a:srgbClr val="D6AA74"/>
                </a:gs>
                <a:gs pos="0">
                  <a:srgbClr val="D6AA74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9978" y="6380711"/>
            <a:ext cx="1780186" cy="536494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0773" y="176064"/>
            <a:ext cx="1599391" cy="35169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248920" y="102870"/>
            <a:ext cx="7425690" cy="4972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8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核心方法二：双重图像</a:t>
            </a:r>
            <a:r>
              <a:rPr lang="en-US" altLang="zh-CN" sz="28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-</a:t>
            </a:r>
            <a:r>
              <a:rPr lang="zh-CN" altLang="en-US" sz="28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文本对齐</a:t>
            </a:r>
            <a:endParaRPr lang="zh-CN" altLang="en-US" sz="28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AutoShape 5"/>
          <p:cNvSpPr/>
          <p:nvPr>
            <p:custDataLst>
              <p:tags r:id="rId4"/>
            </p:custDataLst>
          </p:nvPr>
        </p:nvSpPr>
        <p:spPr>
          <a:xfrm>
            <a:off x="6096000" y="1021080"/>
            <a:ext cx="5240020" cy="2362200"/>
          </a:xfrm>
          <a:prstGeom prst="roundRect">
            <a:avLst>
              <a:gd name="adj" fmla="val 0"/>
            </a:avLst>
          </a:prstGeom>
          <a:solidFill>
            <a:srgbClr val="FFFFFF">
              <a:alpha val="55000"/>
            </a:srgbClr>
          </a:solidFill>
          <a:ln w="12700" cap="flat" cmpd="sng">
            <a:solidFill>
              <a:srgbClr val="4FD1C5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indent="0" algn="ctr">
              <a:lnSpc>
                <a:spcPct val="117000"/>
              </a:lnSpc>
              <a:defRPr/>
            </a:pPr>
            <a:r>
              <a:rPr lang="zh-CN" altLang="en-US" b="1">
                <a:solidFill>
                  <a:srgbClr val="2D374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双重对比对齐（</a:t>
            </a:r>
            <a:r>
              <a:rPr lang="en-US" altLang="zh-CN" b="1">
                <a:solidFill>
                  <a:srgbClr val="2D374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DCA</a:t>
            </a:r>
            <a:r>
              <a:rPr lang="zh-CN" altLang="en-US" b="1">
                <a:solidFill>
                  <a:srgbClr val="2D374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）</a:t>
            </a:r>
            <a:endParaRPr lang="zh-CN" altLang="en-US" b="1">
              <a:solidFill>
                <a:srgbClr val="2D374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  <a:p>
            <a:pPr marL="0" indent="0" algn="l">
              <a:lnSpc>
                <a:spcPct val="117000"/>
              </a:lnSpc>
              <a:defRPr/>
            </a:pPr>
            <a:r>
              <a:rPr lang="en-US" b="1">
                <a:solidFill>
                  <a:srgbClr val="2D374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图像对比 (CIC)：</a:t>
            </a:r>
            <a:r>
              <a:rPr lang="en-US">
                <a:solidFill>
                  <a:srgbClr val="2D374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遵循对比学习范式，拉近匹配图文对的特征距离，推开不相关负样本，夯实跨模态基础关联。</a:t>
            </a:r>
            <a:endParaRPr 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algn="l">
              <a:lnSpc>
                <a:spcPct val="117000"/>
              </a:lnSpc>
            </a:pPr>
            <a:r>
              <a:rPr lang="en-US" b="1">
                <a:solidFill>
                  <a:srgbClr val="2D374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文本对比 (CTC)：</a:t>
            </a:r>
            <a:r>
              <a:rPr lang="en-US">
                <a:solidFill>
                  <a:srgbClr val="2D374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以文本为中心锚点，聚合匹配的视觉特征，构建双向对称的语义约束，强化文本对图像的引导作用。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AutoShape 9"/>
          <p:cNvSpPr/>
          <p:nvPr>
            <p:custDataLst>
              <p:tags r:id="rId5"/>
            </p:custDataLst>
          </p:nvPr>
        </p:nvSpPr>
        <p:spPr>
          <a:xfrm>
            <a:off x="248920" y="4093210"/>
            <a:ext cx="5371465" cy="2011680"/>
          </a:xfrm>
          <a:prstGeom prst="roundRect">
            <a:avLst>
              <a:gd name="adj" fmla="val 0"/>
            </a:avLst>
          </a:prstGeom>
          <a:solidFill>
            <a:srgbClr val="FFFFFF">
              <a:alpha val="55000"/>
            </a:srgbClr>
          </a:solidFill>
          <a:ln w="12700" cap="flat" cmpd="sng">
            <a:solidFill>
              <a:srgbClr val="4FD1C5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indent="0" algn="ctr">
              <a:lnSpc>
                <a:spcPct val="117000"/>
              </a:lnSpc>
              <a:defRPr/>
            </a:pPr>
            <a:r>
              <a:rPr lang="zh-CN" altLang="en-US" b="1">
                <a:solidFill>
                  <a:srgbClr val="2D374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交叉注意力对齐模块（</a:t>
            </a:r>
            <a:r>
              <a:rPr lang="en-US" altLang="zh-CN" b="1">
                <a:solidFill>
                  <a:srgbClr val="2D374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CAM</a:t>
            </a:r>
            <a:r>
              <a:rPr lang="zh-CN" altLang="en-US" b="1">
                <a:solidFill>
                  <a:srgbClr val="2D374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）</a:t>
            </a:r>
            <a:endParaRPr lang="zh-CN" altLang="en-US" b="1">
              <a:solidFill>
                <a:srgbClr val="2D374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  <a:p>
            <a:pPr marL="0" indent="0" algn="l">
              <a:lnSpc>
                <a:spcPct val="117000"/>
              </a:lnSpc>
              <a:defRPr/>
            </a:pPr>
            <a:r>
              <a:rPr lang="en-US">
                <a:solidFill>
                  <a:srgbClr val="2D374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引入Transformer的多头注意力机制，实现跨模态特征的动态交互。模型可根据文本关键词，自适应聚焦图像关键区域，从“全局匹配”升级为“细粒度区域对齐”，有效解决复杂场景下的语义错位问题，提升匹配精准度。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AutoShape 13"/>
          <p:cNvSpPr/>
          <p:nvPr>
            <p:custDataLst>
              <p:tags r:id="rId6"/>
            </p:custDataLst>
          </p:nvPr>
        </p:nvSpPr>
        <p:spPr>
          <a:xfrm>
            <a:off x="6096635" y="4093210"/>
            <a:ext cx="5238750" cy="2011680"/>
          </a:xfrm>
          <a:prstGeom prst="roundRect">
            <a:avLst>
              <a:gd name="adj" fmla="val 0"/>
            </a:avLst>
          </a:prstGeom>
          <a:solidFill>
            <a:srgbClr val="FFFFFF">
              <a:alpha val="55000"/>
            </a:srgbClr>
          </a:solidFill>
          <a:ln w="12700" cap="flat" cmpd="sng">
            <a:solidFill>
              <a:srgbClr val="4FD1C5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r>
              <a:rPr lang="zh-CN" b="1">
                <a:latin typeface="微软雅黑" panose="020B0503020204020204" charset="-122"/>
                <a:ea typeface="微软雅黑" panose="020B0503020204020204" charset="-122"/>
              </a:rPr>
              <a:t>多粒度数据增强（</a:t>
            </a:r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</a:rPr>
              <a:t>MGDA</a:t>
            </a:r>
            <a:r>
              <a:rPr lang="zh-CN" b="1">
                <a:latin typeface="微软雅黑" panose="020B0503020204020204" charset="-122"/>
                <a:ea typeface="微软雅黑" panose="020B0503020204020204" charset="-122"/>
              </a:rPr>
              <a:t>）</a:t>
            </a:r>
            <a:endParaRPr lang="zh-CN" b="1"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defRPr/>
            </a:pPr>
            <a:r>
              <a:rPr lang="en-US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通过多图拼接生成复合样本，迫使模型同时捕捉全局场景与局部细节特征。有效丰富训练数据的多样性，增强模型对复杂场景、多目标共存场景的理解能力，大幅提升模型在真实场景下的泛化表现。</a:t>
            </a:r>
            <a:endParaRPr lang="en-US"/>
          </a:p>
          <a:p>
            <a:pPr algn="ctr">
              <a:defRPr/>
            </a:pPr>
            <a:endParaRPr lang="zh-CN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3595" y="807085"/>
            <a:ext cx="4544060" cy="30911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1"/>
          <a:srcRect t="34000" r="33676" b="55939"/>
          <a:stretch>
            <a:fillRect/>
          </a:stretch>
        </p:blipFill>
        <p:spPr>
          <a:xfrm>
            <a:off x="2" y="2"/>
            <a:ext cx="8086205" cy="714895"/>
          </a:xfrm>
          <a:custGeom>
            <a:avLst/>
            <a:gdLst>
              <a:gd name="connsiteX0" fmla="*/ 0 w 8086205"/>
              <a:gd name="connsiteY0" fmla="*/ 0 h 714895"/>
              <a:gd name="connsiteX1" fmla="*/ 7907481 w 8086205"/>
              <a:gd name="connsiteY1" fmla="*/ 0 h 714895"/>
              <a:gd name="connsiteX2" fmla="*/ 8086205 w 8086205"/>
              <a:gd name="connsiteY2" fmla="*/ 714895 h 714895"/>
              <a:gd name="connsiteX3" fmla="*/ 0 w 8086205"/>
              <a:gd name="connsiteY3" fmla="*/ 714895 h 7148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6205" h="714895">
                <a:moveTo>
                  <a:pt x="0" y="0"/>
                </a:moveTo>
                <a:lnTo>
                  <a:pt x="7907481" y="0"/>
                </a:lnTo>
                <a:lnTo>
                  <a:pt x="8086205" y="714895"/>
                </a:lnTo>
                <a:lnTo>
                  <a:pt x="0" y="714895"/>
                </a:lnTo>
                <a:close/>
              </a:path>
            </a:pathLst>
          </a:custGeom>
        </p:spPr>
      </p:pic>
      <p:pic>
        <p:nvPicPr>
          <p:cNvPr id="75" name="图片 74"/>
          <p:cNvPicPr>
            <a:picLocks noChangeAspect="1"/>
          </p:cNvPicPr>
          <p:nvPr/>
        </p:nvPicPr>
        <p:blipFill rotWithShape="1">
          <a:blip r:embed="rId1"/>
          <a:srcRect t="68121" b="25333"/>
          <a:stretch>
            <a:fillRect/>
          </a:stretch>
        </p:blipFill>
        <p:spPr>
          <a:xfrm>
            <a:off x="0" y="6342612"/>
            <a:ext cx="12192000" cy="515389"/>
          </a:xfrm>
          <a:prstGeom prst="rect">
            <a:avLst/>
          </a:prstGeom>
        </p:spPr>
      </p:pic>
      <p:cxnSp>
        <p:nvCxnSpPr>
          <p:cNvPr id="88" name="直线连接符 92"/>
          <p:cNvCxnSpPr/>
          <p:nvPr/>
        </p:nvCxnSpPr>
        <p:spPr>
          <a:xfrm flipH="1">
            <a:off x="-7622" y="6342611"/>
            <a:ext cx="12204000" cy="0"/>
          </a:xfrm>
          <a:prstGeom prst="line">
            <a:avLst/>
          </a:prstGeom>
          <a:ln w="101600">
            <a:gradFill>
              <a:gsLst>
                <a:gs pos="50000">
                  <a:srgbClr val="F6D9A7"/>
                </a:gs>
                <a:gs pos="100000">
                  <a:srgbClr val="D6AA74"/>
                </a:gs>
                <a:gs pos="0">
                  <a:srgbClr val="D6AA74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线连接符 93"/>
          <p:cNvCxnSpPr/>
          <p:nvPr/>
        </p:nvCxnSpPr>
        <p:spPr>
          <a:xfrm flipH="1">
            <a:off x="-7622" y="703815"/>
            <a:ext cx="12204000" cy="0"/>
          </a:xfrm>
          <a:prstGeom prst="line">
            <a:avLst/>
          </a:prstGeom>
          <a:ln w="101600">
            <a:gradFill>
              <a:gsLst>
                <a:gs pos="50000">
                  <a:srgbClr val="F6D9A7"/>
                </a:gs>
                <a:gs pos="100000">
                  <a:srgbClr val="D6AA74"/>
                </a:gs>
                <a:gs pos="0">
                  <a:srgbClr val="D6AA74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9978" y="6380711"/>
            <a:ext cx="1780186" cy="536494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0773" y="176064"/>
            <a:ext cx="1599391" cy="35169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248920" y="102870"/>
            <a:ext cx="3471545" cy="4972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8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核心方法对比</a:t>
            </a:r>
            <a:endParaRPr lang="zh-CN" altLang="en-US" sz="28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zh-CN" altLang="en-US" sz="28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2" name="表格 1"/>
          <p:cNvGraphicFramePr/>
          <p:nvPr>
            <p:custDataLst>
              <p:tags r:id="rId4"/>
            </p:custDataLst>
          </p:nvPr>
        </p:nvGraphicFramePr>
        <p:xfrm>
          <a:off x="167005" y="1320165"/>
          <a:ext cx="11887835" cy="40970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78810"/>
                <a:gridCol w="4317365"/>
                <a:gridCol w="4391660"/>
              </a:tblGrid>
              <a:tr h="63944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维度</a:t>
                      </a:r>
                      <a:endParaRPr lang="zh-C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MDPL</a:t>
                      </a:r>
                      <a:r>
                        <a:rPr lang="zh-CN" altLang="en-US"/>
                        <a:t>（</a:t>
                      </a:r>
                      <a:r>
                        <a:rPr lang="zh-CN" altLang="en-US"/>
                        <a:t>多模态解耦提示）</a:t>
                      </a:r>
                      <a:endParaRPr lang="zh-C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双重图像</a:t>
                      </a:r>
                      <a:r>
                        <a:rPr lang="en-US" altLang="zh-CN"/>
                        <a:t>-</a:t>
                      </a:r>
                      <a:r>
                        <a:rPr lang="zh-CN" altLang="en-US"/>
                        <a:t>文本对齐</a:t>
                      </a:r>
                      <a:endParaRPr lang="zh-CN" altLang="en-US"/>
                    </a:p>
                  </a:txBody>
                  <a:tcPr anchor="ctr" anchorCtr="0"/>
                </a:tc>
              </a:tr>
              <a:tr h="72580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核心</a:t>
                      </a:r>
                      <a:r>
                        <a:rPr lang="zh-CN" altLang="en-US"/>
                        <a:t>痛点</a:t>
                      </a:r>
                      <a:endParaRPr lang="zh-C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可见类过拟合、</a:t>
                      </a:r>
                      <a:r>
                        <a:rPr lang="zh-CN" altLang="en-US"/>
                        <a:t>新旧类别性能失衡</a:t>
                      </a:r>
                      <a:endParaRPr lang="zh-C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全局特征混杂，局部图文细粒度</a:t>
                      </a:r>
                      <a:r>
                        <a:rPr lang="zh-CN" altLang="en-US"/>
                        <a:t>不匹配</a:t>
                      </a:r>
                      <a:endParaRPr lang="zh-CN" altLang="en-US"/>
                    </a:p>
                  </a:txBody>
                  <a:tcPr anchor="ctr" anchorCtr="0"/>
                </a:tc>
              </a:tr>
              <a:tr h="72580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核心机制</a:t>
                      </a:r>
                      <a:endParaRPr lang="zh-C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正交双特征空间，分离共享、特异</a:t>
                      </a:r>
                      <a:r>
                        <a:rPr lang="zh-CN" altLang="en-US"/>
                        <a:t>知识</a:t>
                      </a:r>
                      <a:endParaRPr lang="zh-C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双向对比</a:t>
                      </a:r>
                      <a:r>
                        <a:rPr lang="en-US" altLang="zh-CN"/>
                        <a:t>+</a:t>
                      </a:r>
                      <a:r>
                        <a:rPr lang="zh-CN" altLang="en-US"/>
                        <a:t>交叉注意力、</a:t>
                      </a:r>
                      <a:r>
                        <a:rPr lang="zh-CN" altLang="en-US"/>
                        <a:t>局部精准对齐</a:t>
                      </a:r>
                      <a:endParaRPr lang="zh-CN" altLang="en-US"/>
                    </a:p>
                  </a:txBody>
                  <a:tcPr anchor="ctr" anchorCtr="0"/>
                </a:tc>
              </a:tr>
              <a:tr h="64071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解决层级</a:t>
                      </a:r>
                      <a:endParaRPr lang="zh-C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宏观知识空间</a:t>
                      </a:r>
                      <a:r>
                        <a:rPr lang="zh-CN" altLang="en-US"/>
                        <a:t>解耦</a:t>
                      </a:r>
                      <a:endParaRPr lang="zh-C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微观图像区域</a:t>
                      </a:r>
                      <a:r>
                        <a:rPr lang="en-US" altLang="zh-CN"/>
                        <a:t>-</a:t>
                      </a:r>
                      <a:r>
                        <a:rPr lang="zh-CN" altLang="en-US"/>
                        <a:t>文本匹配</a:t>
                      </a:r>
                      <a:endParaRPr lang="zh-CN" altLang="en-US"/>
                    </a:p>
                  </a:txBody>
                  <a:tcPr anchor="ctr" anchorCtr="0"/>
                </a:tc>
              </a:tr>
              <a:tr h="72580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优势场景</a:t>
                      </a:r>
                      <a:endParaRPr lang="zh-C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可见、不可见类别混合</a:t>
                      </a:r>
                      <a:r>
                        <a:rPr lang="zh-CN" altLang="en-US"/>
                        <a:t>广义任务</a:t>
                      </a:r>
                      <a:endParaRPr lang="zh-C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密集多标签、复杂重叠图像纯</a:t>
                      </a:r>
                      <a:r>
                        <a:rPr lang="zh-CN" altLang="en-US"/>
                        <a:t>零样本任务</a:t>
                      </a:r>
                      <a:endParaRPr lang="zh-CN" altLang="en-US"/>
                    </a:p>
                  </a:txBody>
                  <a:tcPr anchor="ctr" anchorCtr="0"/>
                </a:tc>
              </a:tr>
              <a:tr h="63944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递进关系</a:t>
                      </a:r>
                      <a:endParaRPr lang="zh-C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基础框架</a:t>
                      </a:r>
                      <a:endParaRPr lang="zh-C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在</a:t>
                      </a:r>
                      <a:r>
                        <a:rPr lang="en-US" altLang="zh-CN"/>
                        <a:t>MDPL</a:t>
                      </a:r>
                      <a:r>
                        <a:rPr lang="zh-CN" altLang="en-US"/>
                        <a:t>基础上优化细粒度对齐，性能上限</a:t>
                      </a:r>
                      <a:r>
                        <a:rPr lang="zh-CN" altLang="en-US"/>
                        <a:t>更高</a:t>
                      </a:r>
                      <a:endParaRPr lang="zh-CN" altLang="en-US"/>
                    </a:p>
                  </a:txBody>
                  <a:tcPr anchor="ctr" anchorCtr="0"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1"/>
          <a:srcRect t="34000" r="33676" b="55939"/>
          <a:stretch>
            <a:fillRect/>
          </a:stretch>
        </p:blipFill>
        <p:spPr>
          <a:xfrm>
            <a:off x="2" y="2"/>
            <a:ext cx="8086205" cy="714895"/>
          </a:xfrm>
          <a:custGeom>
            <a:avLst/>
            <a:gdLst>
              <a:gd name="connsiteX0" fmla="*/ 0 w 8086205"/>
              <a:gd name="connsiteY0" fmla="*/ 0 h 714895"/>
              <a:gd name="connsiteX1" fmla="*/ 7907481 w 8086205"/>
              <a:gd name="connsiteY1" fmla="*/ 0 h 714895"/>
              <a:gd name="connsiteX2" fmla="*/ 8086205 w 8086205"/>
              <a:gd name="connsiteY2" fmla="*/ 714895 h 714895"/>
              <a:gd name="connsiteX3" fmla="*/ 0 w 8086205"/>
              <a:gd name="connsiteY3" fmla="*/ 714895 h 7148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6205" h="714895">
                <a:moveTo>
                  <a:pt x="0" y="0"/>
                </a:moveTo>
                <a:lnTo>
                  <a:pt x="7907481" y="0"/>
                </a:lnTo>
                <a:lnTo>
                  <a:pt x="8086205" y="714895"/>
                </a:lnTo>
                <a:lnTo>
                  <a:pt x="0" y="714895"/>
                </a:lnTo>
                <a:close/>
              </a:path>
            </a:pathLst>
          </a:custGeom>
        </p:spPr>
      </p:pic>
      <p:pic>
        <p:nvPicPr>
          <p:cNvPr id="75" name="图片 74"/>
          <p:cNvPicPr>
            <a:picLocks noChangeAspect="1"/>
          </p:cNvPicPr>
          <p:nvPr/>
        </p:nvPicPr>
        <p:blipFill rotWithShape="1">
          <a:blip r:embed="rId1"/>
          <a:srcRect t="68121" b="25333"/>
          <a:stretch>
            <a:fillRect/>
          </a:stretch>
        </p:blipFill>
        <p:spPr>
          <a:xfrm>
            <a:off x="0" y="6342612"/>
            <a:ext cx="12192000" cy="515389"/>
          </a:xfrm>
          <a:prstGeom prst="rect">
            <a:avLst/>
          </a:prstGeom>
        </p:spPr>
      </p:pic>
      <p:cxnSp>
        <p:nvCxnSpPr>
          <p:cNvPr id="88" name="直线连接符 92"/>
          <p:cNvCxnSpPr/>
          <p:nvPr/>
        </p:nvCxnSpPr>
        <p:spPr>
          <a:xfrm flipH="1">
            <a:off x="-7622" y="6342611"/>
            <a:ext cx="12204000" cy="0"/>
          </a:xfrm>
          <a:prstGeom prst="line">
            <a:avLst/>
          </a:prstGeom>
          <a:ln w="101600">
            <a:gradFill>
              <a:gsLst>
                <a:gs pos="50000">
                  <a:srgbClr val="F6D9A7"/>
                </a:gs>
                <a:gs pos="100000">
                  <a:srgbClr val="D6AA74"/>
                </a:gs>
                <a:gs pos="0">
                  <a:srgbClr val="D6AA74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线连接符 93"/>
          <p:cNvCxnSpPr/>
          <p:nvPr/>
        </p:nvCxnSpPr>
        <p:spPr>
          <a:xfrm flipH="1">
            <a:off x="-7622" y="703815"/>
            <a:ext cx="12204000" cy="0"/>
          </a:xfrm>
          <a:prstGeom prst="line">
            <a:avLst/>
          </a:prstGeom>
          <a:ln w="101600">
            <a:gradFill>
              <a:gsLst>
                <a:gs pos="50000">
                  <a:srgbClr val="F6D9A7"/>
                </a:gs>
                <a:gs pos="100000">
                  <a:srgbClr val="D6AA74"/>
                </a:gs>
                <a:gs pos="0">
                  <a:srgbClr val="D6AA74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9978" y="6380711"/>
            <a:ext cx="1780186" cy="536494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0773" y="176064"/>
            <a:ext cx="1599391" cy="35169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248920" y="102870"/>
            <a:ext cx="3471545" cy="4972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8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其他内容</a:t>
            </a:r>
            <a:endParaRPr lang="zh-CN" altLang="en-US" sz="28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zh-CN" altLang="en-US" sz="28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81660" y="1327785"/>
            <a:ext cx="4695825" cy="3752850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noAutofit/>
          </a:bodyPr>
          <a:p>
            <a:pPr algn="ctr"/>
            <a:endParaRPr lang="zh-CN" altLang="en-US" sz="2000" b="1"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</a:rPr>
              <a:t>实验部分：</a:t>
            </a:r>
            <a:endParaRPr lang="zh-CN" altLang="en-US" sz="2000" b="1"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zh-CN" altLang="en-US"/>
          </a:p>
          <a:p>
            <a:r>
              <a:rPr lang="en-US" altLang="zh-CN"/>
              <a:t>   </a:t>
            </a:r>
            <a:endParaRPr lang="en-US" altLang="zh-CN"/>
          </a:p>
          <a:p>
            <a:r>
              <a:rPr lang="en-US" altLang="zh-CN"/>
              <a:t>  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双重图像-文本对齐方法的双重对比正则、交叉注意力、多粒度增强三个模块全部具备正向增益；相比第三章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MDPL，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解决全局特征混合、局部匹配错位缺陷，在复杂多目标图像中对不可见类推理能力显著更强。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294755" y="1327785"/>
            <a:ext cx="4829810" cy="3753485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p>
            <a:pPr algn="ctr"/>
            <a:endParaRPr lang="zh-CN" altLang="en-US" sz="2000" b="1"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</a:rPr>
              <a:t>算法工程落地部分</a:t>
            </a:r>
            <a:endParaRPr lang="zh-CN" altLang="en-US" sz="2000" b="1"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zh-CN" altLang="en-US"/>
          </a:p>
          <a:p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 理论价值：证明第三章、第四章算法不只是实验室模型，可完整工程化部署；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en-US" altLang="zh-CN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 应用价值：提供无代码可视化操作界面，无需编写代码即可完成数据集处理、模型训练、图像识别；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en-US" altLang="zh-CN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 扩展性：模块化架构可新增数据集、新提示算法、新增增强策略。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519545" y="581892"/>
            <a:ext cx="11170227" cy="5777345"/>
          </a:xfrm>
          <a:prstGeom prst="rect">
            <a:avLst/>
          </a:prstGeom>
          <a:ln w="101600">
            <a:gradFill>
              <a:gsLst>
                <a:gs pos="50000">
                  <a:srgbClr val="F6D9A7"/>
                </a:gs>
                <a:gs pos="100000">
                  <a:srgbClr val="D6AA74"/>
                </a:gs>
                <a:gs pos="0">
                  <a:srgbClr val="D6AA74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 Regular"/>
              <a:ea typeface="微软雅黑" panose="020B0503020204020204" charset="-122"/>
              <a:cs typeface="+mn-cs"/>
            </a:endParaRPr>
          </a:p>
        </p:txBody>
      </p:sp>
      <p:cxnSp>
        <p:nvCxnSpPr>
          <p:cNvPr id="75" name="直线连接符 4"/>
          <p:cNvCxnSpPr/>
          <p:nvPr/>
        </p:nvCxnSpPr>
        <p:spPr>
          <a:xfrm>
            <a:off x="4571160" y="4189051"/>
            <a:ext cx="5734163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线连接符 207"/>
          <p:cNvCxnSpPr/>
          <p:nvPr/>
        </p:nvCxnSpPr>
        <p:spPr>
          <a:xfrm>
            <a:off x="4571160" y="4664180"/>
            <a:ext cx="5734163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线连接符 12"/>
          <p:cNvCxnSpPr/>
          <p:nvPr/>
        </p:nvCxnSpPr>
        <p:spPr>
          <a:xfrm>
            <a:off x="3985111" y="2420939"/>
            <a:ext cx="0" cy="2270149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1" name="图片 80"/>
          <p:cNvPicPr>
            <a:picLocks noChangeAspect="1"/>
          </p:cNvPicPr>
          <p:nvPr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989" y="2059601"/>
            <a:ext cx="2857500" cy="285750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5299331" y="2064226"/>
            <a:ext cx="5089714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8800" b="1" i="1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prstClr val="white">
                        <a:alpha val="43000"/>
                      </a:prstClr>
                    </a:gs>
                    <a:gs pos="100000">
                      <a:prstClr val="white">
                        <a:alpha val="0"/>
                      </a:prstClr>
                    </a:gs>
                  </a:gsLst>
                  <a:lin ang="5400000" scaled="1"/>
                </a:gra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THANKS</a:t>
            </a:r>
            <a:endParaRPr kumimoji="1" lang="zh-CN" altLang="en-US" sz="8800" b="1" i="1" u="none" strike="noStrike" kern="1200" cap="none" spc="0" normalizeH="0" baseline="0" noProof="0" dirty="0">
              <a:ln>
                <a:noFill/>
              </a:ln>
              <a:gradFill>
                <a:gsLst>
                  <a:gs pos="0">
                    <a:prstClr val="white">
                      <a:alpha val="43000"/>
                    </a:prstClr>
                  </a:gs>
                  <a:gs pos="100000">
                    <a:prstClr val="white">
                      <a:alpha val="0"/>
                    </a:prstClr>
                  </a:gs>
                </a:gsLst>
                <a:lin ang="5400000" scaled="1"/>
              </a:gra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4471097" y="2402942"/>
            <a:ext cx="5109091" cy="17148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9600" b="1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谢谢大家</a:t>
            </a:r>
            <a:endParaRPr kumimoji="1" lang="en-US" altLang="zh-CN" sz="9600" b="1" i="0" u="none" strike="noStrike" kern="1200" cap="none" spc="0" normalizeH="0" baseline="0" noProof="0" dirty="0">
              <a:ln>
                <a:noFill/>
              </a:ln>
              <a:solidFill>
                <a:srgbClr val="ED7D3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 rotWithShape="1">
          <a:blip r:embed="rId3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602"/>
          <a:stretch>
            <a:fillRect/>
          </a:stretch>
        </p:blipFill>
        <p:spPr>
          <a:xfrm>
            <a:off x="898544" y="887168"/>
            <a:ext cx="2279311" cy="673670"/>
          </a:xfrm>
          <a:prstGeom prst="rect">
            <a:avLst/>
          </a:prstGeom>
        </p:spPr>
      </p:pic>
      <p:sp>
        <p:nvSpPr>
          <p:cNvPr id="16" name="副标题 2"/>
          <p:cNvSpPr txBox="1"/>
          <p:nvPr/>
        </p:nvSpPr>
        <p:spPr>
          <a:xfrm>
            <a:off x="2452443" y="5858895"/>
            <a:ext cx="7287114" cy="457696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6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方正小标宋简体" panose="02000000000000000000" pitchFamily="65" charset="-122"/>
                <a:ea typeface="方正小标宋简体" panose="02000000000000000000" pitchFamily="65" charset="-122"/>
                <a:cs typeface="+mn-cs"/>
              </a:rPr>
              <a:t>-  </a:t>
            </a:r>
            <a:r>
              <a:rPr kumimoji="0" lang="zh-CN" altLang="en-US" sz="1400" b="0" i="0" u="none" strike="noStrike" kern="1200" cap="none" spc="6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方正小标宋简体" panose="02000000000000000000" pitchFamily="65" charset="-122"/>
                <a:ea typeface="方正小标宋简体" panose="02000000000000000000" pitchFamily="65" charset="-122"/>
                <a:cs typeface="+mn-cs"/>
              </a:rPr>
              <a:t>艰苦创业  开拓创新  争创一流  </a:t>
            </a:r>
            <a:r>
              <a:rPr kumimoji="0" lang="en-US" altLang="zh-CN" sz="1400" b="0" i="0" u="none" strike="noStrike" kern="1200" cap="none" spc="6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方正小标宋简体" panose="02000000000000000000" pitchFamily="65" charset="-122"/>
                <a:ea typeface="方正小标宋简体" panose="02000000000000000000" pitchFamily="65" charset="-122"/>
                <a:cs typeface="+mn-cs"/>
              </a:rPr>
              <a:t>-</a:t>
            </a:r>
            <a:endParaRPr kumimoji="0" lang="zh-CN" altLang="en-US" sz="14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方正小标宋简体" panose="02000000000000000000" pitchFamily="65" charset="-122"/>
              <a:ea typeface="方正小标宋简体" panose="02000000000000000000" pitchFamily="65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ags/tag1.xml><?xml version="1.0" encoding="utf-8"?>
<p:tagLst xmlns:p="http://schemas.openxmlformats.org/presentationml/2006/main">
  <p:tag name="KSO_WM_DIAGRAM_VIRTUALLY_FRAME" val="{&quot;height&quot;:315,&quot;left&quot;:380,&quot;top&quot;:150,&quot;width&quot;:520}"/>
</p:tagLst>
</file>

<file path=ppt/tags/tag2.xml><?xml version="1.0" encoding="utf-8"?>
<p:tagLst xmlns:p="http://schemas.openxmlformats.org/presentationml/2006/main">
  <p:tag name="KSO_WM_DIAGRAM_VIRTUALLY_FRAME" val="{&quot;height&quot;:315,&quot;left&quot;:380,&quot;top&quot;:150,&quot;width&quot;:520}"/>
</p:tagLst>
</file>

<file path=ppt/tags/tag3.xml><?xml version="1.0" encoding="utf-8"?>
<p:tagLst xmlns:p="http://schemas.openxmlformats.org/presentationml/2006/main">
  <p:tag name="KSO_WM_DIAGRAM_VIRTUALLY_FRAME" val="{&quot;height&quot;:315,&quot;left&quot;:380,&quot;top&quot;:150,&quot;width&quot;:520}"/>
</p:tagLst>
</file>

<file path=ppt/tags/tag4.xml><?xml version="1.0" encoding="utf-8"?>
<p:tagLst xmlns:p="http://schemas.openxmlformats.org/presentationml/2006/main">
  <p:tag name="KSO_WM_DIAGRAM_VIRTUALLY_FRAME" val="{&quot;height&quot;:315,&quot;left&quot;:380,&quot;top&quot;:150,&quot;width&quot;:520}"/>
</p:tagLst>
</file>

<file path=ppt/tags/tag5.xml><?xml version="1.0" encoding="utf-8"?>
<p:tagLst xmlns:p="http://schemas.openxmlformats.org/presentationml/2006/main">
  <p:tag name="KSO_WM_DIAGRAM_VIRTUALLY_FRAME" val="{&quot;height&quot;:315,&quot;left&quot;:380,&quot;top&quot;:150,&quot;width&quot;:520}"/>
</p:tagLst>
</file>

<file path=ppt/tags/tag6.xml><?xml version="1.0" encoding="utf-8"?>
<p:tagLst xmlns:p="http://schemas.openxmlformats.org/presentationml/2006/main">
  <p:tag name="KSO_WM_DIAGRAM_VIRTUALLY_FRAME" val="{&quot;height&quot;:315,&quot;left&quot;:380,&quot;top&quot;:150,&quot;width&quot;:520}"/>
</p:tagLst>
</file>

<file path=ppt/tags/tag7.xml><?xml version="1.0" encoding="utf-8"?>
<p:tagLst xmlns:p="http://schemas.openxmlformats.org/presentationml/2006/main">
  <p:tag name="KSO_WM_DIAGRAM_VIRTUALLY_FRAME" val="{&quot;height&quot;:210,&quot;left&quot;:60,&quot;top&quot;:245,&quot;width&quot;:838}"/>
</p:tagLst>
</file>

<file path=ppt/tags/tag8.xml><?xml version="1.0" encoding="utf-8"?>
<p:tagLst xmlns:p="http://schemas.openxmlformats.org/presentationml/2006/main">
  <p:tag name="KSO_WM_DIAGRAM_VIRTUALLY_FRAME" val="{&quot;height&quot;:210,&quot;left&quot;:60,&quot;top&quot;:245,&quot;width&quot;:838}"/>
</p:tagLst>
</file>

<file path=ppt/tags/tag9.xml><?xml version="1.0" encoding="utf-8"?>
<p:tagLst xmlns:p="http://schemas.openxmlformats.org/presentationml/2006/main">
  <p:tag name="KSO_WM_DIAGRAM_VIRTUALLY_FRAME" val="{&quot;height&quot;:210,&quot;left&quot;:60,&quot;top&quot;:245,&quot;width&quot;:838}"/>
</p:tagLst>
</file>

<file path=ppt/tags/tag10.xml><?xml version="1.0" encoding="utf-8"?>
<p:tagLst xmlns:p="http://schemas.openxmlformats.org/presentationml/2006/main">
  <p:tag name="TABLE_ENDDRAG_ORIGIN_RECT" val="899*322"/>
  <p:tag name="TABLE_ENDDRAG_RECT" val="34*99*899*322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2755</Words>
  <Application>WPS 演示</Application>
  <PresentationFormat>宽屏</PresentationFormat>
  <Paragraphs>207</Paragraphs>
  <Slides>12</Slides>
  <Notes>19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4" baseType="lpstr">
      <vt:lpstr>Arial</vt:lpstr>
      <vt:lpstr>宋体</vt:lpstr>
      <vt:lpstr>Wingdings</vt:lpstr>
      <vt:lpstr>Microsoft YaHei Regular</vt:lpstr>
      <vt:lpstr>微软雅黑</vt:lpstr>
      <vt:lpstr>方正小标宋简体</vt:lpstr>
      <vt:lpstr>Noto Sans SC</vt:lpstr>
      <vt:lpstr>Segoe Print</vt:lpstr>
      <vt:lpstr>Arial Unicode MS</vt:lpstr>
      <vt:lpstr>等线 Light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郑烨</dc:creator>
  <cp:lastModifiedBy>路遥</cp:lastModifiedBy>
  <cp:revision>74</cp:revision>
  <dcterms:created xsi:type="dcterms:W3CDTF">2024-04-23T07:30:00Z</dcterms:created>
  <dcterms:modified xsi:type="dcterms:W3CDTF">2026-07-27T06:14:25Z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92A68684028041D1913CEC220222B404_13</vt:lpwstr>
  </property>
  <property fmtid="{D5CDD505-2E9C-101B-9397-08002B2CF9AE}" pid="3" name="KSOProductBuildVer">
    <vt:lpwstr>2052-12.1.0.28040</vt:lpwstr>
  </property>
</Properties>
</file>